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65" r:id="rId11"/>
    <p:sldId id="266" r:id="rId12"/>
    <p:sldId id="267" r:id="rId13"/>
    <p:sldId id="268" r:id="rId14"/>
    <p:sldId id="269" r:id="rId15"/>
  </p:sldIdLst>
  <p:sldSz cx="9144000" cy="5143500"/>
  <p:notesSz cx="6858000" cy="9144000"/>
  <p:embeddedFontLst>
    <p:embeddedFont>
      <p:font typeface="Roboto Slab"/>
      <p:regular r:id="rId19"/>
    </p:embeddedFont>
    <p:embeddedFont>
      <p:font typeface="Roboto" panose="0200000000000000000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 name="Shape 59"/>
        <p:cNvGrpSpPr/>
        <p:nvPr/>
      </p:nvGrpSpPr>
      <p:grpSpPr>
        <a:xfrm>
          <a:off x="0" y="0"/>
          <a:ext cx="0" cy="0"/>
          <a:chOff x="0" y="0"/>
          <a:chExt cx="0" cy="0"/>
        </a:xfrm>
      </p:grpSpPr>
      <p:sp>
        <p:nvSpPr>
          <p:cNvPr id="60" name="Google Shape;60;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 name="Shape 65"/>
        <p:cNvGrpSpPr/>
        <p:nvPr/>
      </p:nvGrpSpPr>
      <p:grpSpPr>
        <a:xfrm>
          <a:off x="0" y="0"/>
          <a:ext cx="0" cy="0"/>
          <a:chOff x="0" y="0"/>
          <a:chExt cx="0" cy="0"/>
        </a:xfrm>
      </p:grpSpPr>
      <p:sp>
        <p:nvSpPr>
          <p:cNvPr id="66" name="Google Shape;66;g3b8cd63c874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b8cd63c874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 name="Shape 76"/>
        <p:cNvGrpSpPr/>
        <p:nvPr/>
      </p:nvGrpSpPr>
      <p:grpSpPr>
        <a:xfrm>
          <a:off x="0" y="0"/>
          <a:ext cx="0" cy="0"/>
          <a:chOff x="0" y="0"/>
          <a:chExt cx="0" cy="0"/>
        </a:xfrm>
      </p:grpSpPr>
      <p:sp>
        <p:nvSpPr>
          <p:cNvPr id="77" name="Google Shape;77;g3b8cd63c874_0_2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8cd63c874_0_2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Roboto" panose="02000000000000000000"/>
                <a:ea typeface="Roboto" panose="02000000000000000000"/>
                <a:cs typeface="Roboto" panose="02000000000000000000"/>
                <a:sym typeface="Roboto" panose="02000000000000000000"/>
              </a:rPr>
              <a:t>Seasonal patterns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r>
              <a:rPr lang="en-US" sz="1800">
                <a:solidFill>
                  <a:schemeClr val="dk1"/>
                </a:solidFill>
                <a:latin typeface="Roboto" panose="02000000000000000000"/>
                <a:ea typeface="Roboto" panose="02000000000000000000"/>
                <a:cs typeface="Roboto" panose="02000000000000000000"/>
                <a:sym typeface="Roboto" panose="02000000000000000000"/>
              </a:rPr>
              <a:t>Short-term and long-term dependencies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r>
              <a:rPr lang="en-US" sz="1800">
                <a:solidFill>
                  <a:schemeClr val="dk1"/>
                </a:solidFill>
                <a:latin typeface="Roboto" panose="02000000000000000000"/>
                <a:ea typeface="Roboto" panose="02000000000000000000"/>
                <a:cs typeface="Roboto" panose="02000000000000000000"/>
                <a:sym typeface="Roboto" panose="02000000000000000000"/>
              </a:rPr>
              <a:t>Noise and variability</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3b8cd63c874_0_25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8cd63c874_0_25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3b8cd63c874_0_2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8cd63c874_0_2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b8cd63c874_1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8cd63c874_1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g3b8d2b67fff_1_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b8d2b67fff_1_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g3b8d2b67fff_1_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b8d2b67fff_1_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g3b8cd63c874_0_2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b8cd63c874_0_2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g3b90b636edb_0_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b90b636edb_0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From the left-hand plot, it can be clearly observed that the daily maximum and minimum temperatures follow very similar temporal trends, indicating a strong correlation between them. Moreover, both maximum and minimum temperatures exhibit a clear yearly periodic pattern over time. The right-hand figure presents the scatter plot of daily maximum and minimum temperatures. It can be visually observed that the data points roughly align along a straight line, indicating a strong linear correlation between the two variables.</a:t>
            </a:r>
            <a:endParaRPr lang="en-US"/>
          </a:p>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g3b90b636edb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b90b636edb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381000" lvl="0" indent="0" algn="l" rtl="0">
              <a:lnSpc>
                <a:spcPct val="115000"/>
              </a:lnSpc>
              <a:spcBef>
                <a:spcPts val="1200"/>
              </a:spcBef>
              <a:spcAft>
                <a:spcPts val="0"/>
              </a:spcAft>
              <a:buNone/>
            </a:pPr>
            <a:r>
              <a:rPr lang="en-US"/>
              <a:t>In order to identify the factors influencing weather conditions, we constructed boxplots to compare each feature across different weather types.</a:t>
            </a:r>
            <a:endParaRPr lang="en-US"/>
          </a:p>
          <a:p>
            <a:pPr marL="0" lvl="0" indent="0" algn="l" rtl="0">
              <a:lnSpc>
                <a:spcPct val="115000"/>
              </a:lnSpc>
              <a:spcBef>
                <a:spcPts val="1200"/>
              </a:spcBef>
              <a:spcAft>
                <a:spcPts val="0"/>
              </a:spcAft>
              <a:buNone/>
            </a:pPr>
            <a:r>
              <a:rPr lang="en-US"/>
              <a:t>First, we observe that each feature shows noticeable differences across weather categories. This is mainly reflected in the variation of medians, as well as the differences in box heights for maximum temperature, minimum temperature, and wind speed. These patterns clearly indicate that each feature has a strong influence on weather type.</a:t>
            </a:r>
            <a:endParaRPr lang="en-US"/>
          </a:p>
          <a:p>
            <a:pPr marL="0" lvl="0" indent="0" algn="l" rtl="0">
              <a:lnSpc>
                <a:spcPct val="115000"/>
              </a:lnSpc>
              <a:spcBef>
                <a:spcPts val="1200"/>
              </a:spcBef>
              <a:spcAft>
                <a:spcPts val="0"/>
              </a:spcAft>
              <a:buNone/>
            </a:pPr>
            <a:r>
              <a:rPr lang="en-US"/>
              <a:t>In particular, the boxplots of maximum and minimum temperatures for snowy and sunny conditions do not overlap, suggesting that these two variables can directly distinguish between snow and sun. However, overlaps remain with other weather categories, implying that further discrimination using additional features is necessary.</a:t>
            </a:r>
            <a:endParaRPr lang="en-US"/>
          </a:p>
          <a:p>
            <a:pPr marL="0" lvl="0" indent="0" algn="l" rtl="0">
              <a:lnSpc>
                <a:spcPct val="115000"/>
              </a:lnSpc>
              <a:spcBef>
                <a:spcPts val="1200"/>
              </a:spcBef>
              <a:spcAft>
                <a:spcPts val="0"/>
              </a:spcAft>
              <a:buNone/>
            </a:pPr>
            <a:r>
              <a:rPr lang="en-US"/>
              <a:t>For wind speed, the value ranges for snow do not overlap with those of drizzle and fog, indicating that wind speed can be used to separate these weather types. Nevertheless, overlaps between drizzle and fog suggest that other variables should be combined for more accurate classification.</a:t>
            </a:r>
            <a:endParaRPr lang="en-US"/>
          </a:p>
          <a:p>
            <a:pPr marL="0" lvl="0" indent="0" algn="l" rtl="0">
              <a:lnSpc>
                <a:spcPct val="115000"/>
              </a:lnSpc>
              <a:spcBef>
                <a:spcPts val="1200"/>
              </a:spcBef>
              <a:spcAft>
                <a:spcPts val="1200"/>
              </a:spcAft>
              <a:buNone/>
            </a:pPr>
            <a:r>
              <a:rPr lang="en-US"/>
              <a:t>Regarding precipitation, only rain and snow exhibit significant values, making precipitation an effective feature to distinguish rainy and snowy conditions from other weather types.</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g3b90b636edb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b90b636edb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4" name="Google Shape;24;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9" name="Google Shape;29;p5"/>
          <p:cNvSpPr txBox="1"/>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0" name="Google Shape;30;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8" name="Google Shape;38;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8" name="Google Shape;48;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9" name="Shape 49"/>
        <p:cNvGrpSpPr/>
        <p:nvPr/>
      </p:nvGrpSpPr>
      <p:grpSpPr>
        <a:xfrm>
          <a:off x="0" y="0"/>
          <a:ext cx="0" cy="0"/>
          <a:chOff x="0" y="0"/>
          <a:chExt cx="0" cy="0"/>
        </a:xfrm>
      </p:grpSpPr>
      <p:sp>
        <p:nvSpPr>
          <p:cNvPr id="50" name="Google Shape;50;p10"/>
          <p:cNvSpPr txBox="1"/>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11"/>
          <p:cNvSpPr txBox="1"/>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56" name="Google Shape;56;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7" name="Shape 57"/>
        <p:cNvGrpSpPr/>
        <p:nvPr/>
      </p:nvGrpSpPr>
      <p:grpSpPr>
        <a:xfrm>
          <a:off x="0" y="0"/>
          <a:ext cx="0" cy="0"/>
          <a:chOff x="0" y="0"/>
          <a:chExt cx="0" cy="0"/>
        </a:xfrm>
      </p:grpSpPr>
      <p:sp>
        <p:nvSpPr>
          <p:cNvPr id="58" name="Google Shape;58;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panose="02000000000000000000"/>
              <a:buChar char="●"/>
              <a:defRPr sz="1800">
                <a:solidFill>
                  <a:schemeClr val="dk1"/>
                </a:solidFill>
                <a:latin typeface="Roboto" panose="02000000000000000000"/>
                <a:ea typeface="Roboto" panose="02000000000000000000"/>
                <a:cs typeface="Roboto" panose="02000000000000000000"/>
                <a:sym typeface="Roboto" panose="02000000000000000000"/>
              </a:defRPr>
            </a:lvl1pPr>
            <a:lvl2pPr marL="914400" lvl="1"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2pPr>
            <a:lvl3pPr marL="1371600" lvl="2"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3pPr>
            <a:lvl4pPr marL="1828800" lvl="3"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4pPr>
            <a:lvl5pPr marL="2286000" lvl="4"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5pPr>
            <a:lvl6pPr marL="2743200" lvl="5"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6pPr>
            <a:lvl7pPr marL="3200400" lvl="6"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7pPr>
            <a:lvl8pPr marL="3657600" lvl="7"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8pPr>
            <a:lvl9pPr marL="4114800" lvl="8" indent="-317500">
              <a:lnSpc>
                <a:spcPct val="115000"/>
              </a:lnSpc>
              <a:spcBef>
                <a:spcPts val="0"/>
              </a:spcBef>
              <a:spcAft>
                <a:spcPts val="0"/>
              </a:spcAft>
              <a:buClr>
                <a:schemeClr val="dk1"/>
              </a:buClr>
              <a:buSzPts val="1400"/>
              <a:buFont typeface="Roboto" panose="02000000000000000000"/>
              <a:buChar char="■"/>
              <a:defRPr>
                <a:solidFill>
                  <a:schemeClr val="dk1"/>
                </a:solidFill>
                <a:latin typeface="Roboto" panose="02000000000000000000"/>
                <a:ea typeface="Roboto" panose="02000000000000000000"/>
                <a:cs typeface="Roboto" panose="02000000000000000000"/>
                <a:sym typeface="Roboto" panose="02000000000000000000"/>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panose="02000000000000000000"/>
                <a:ea typeface="Roboto" panose="02000000000000000000"/>
                <a:cs typeface="Roboto" panose="02000000000000000000"/>
                <a:sym typeface="Roboto" panose="02000000000000000000"/>
              </a:defRPr>
            </a:lvl1pPr>
            <a:lvl2pPr lvl="1" algn="r">
              <a:buNone/>
              <a:defRPr sz="1000">
                <a:solidFill>
                  <a:schemeClr val="dk1"/>
                </a:solidFill>
                <a:latin typeface="Roboto" panose="02000000000000000000"/>
                <a:ea typeface="Roboto" panose="02000000000000000000"/>
                <a:cs typeface="Roboto" panose="02000000000000000000"/>
                <a:sym typeface="Roboto" panose="02000000000000000000"/>
              </a:defRPr>
            </a:lvl2pPr>
            <a:lvl3pPr lvl="2" algn="r">
              <a:buNone/>
              <a:defRPr sz="1000">
                <a:solidFill>
                  <a:schemeClr val="dk1"/>
                </a:solidFill>
                <a:latin typeface="Roboto" panose="02000000000000000000"/>
                <a:ea typeface="Roboto" panose="02000000000000000000"/>
                <a:cs typeface="Roboto" panose="02000000000000000000"/>
                <a:sym typeface="Roboto" panose="02000000000000000000"/>
              </a:defRPr>
            </a:lvl3pPr>
            <a:lvl4pPr lvl="3" algn="r">
              <a:buNone/>
              <a:defRPr sz="1000">
                <a:solidFill>
                  <a:schemeClr val="dk1"/>
                </a:solidFill>
                <a:latin typeface="Roboto" panose="02000000000000000000"/>
                <a:ea typeface="Roboto" panose="02000000000000000000"/>
                <a:cs typeface="Roboto" panose="02000000000000000000"/>
                <a:sym typeface="Roboto" panose="02000000000000000000"/>
              </a:defRPr>
            </a:lvl4pPr>
            <a:lvl5pPr lvl="4" algn="r">
              <a:buNone/>
              <a:defRPr sz="1000">
                <a:solidFill>
                  <a:schemeClr val="dk1"/>
                </a:solidFill>
                <a:latin typeface="Roboto" panose="02000000000000000000"/>
                <a:ea typeface="Roboto" panose="02000000000000000000"/>
                <a:cs typeface="Roboto" panose="02000000000000000000"/>
                <a:sym typeface="Roboto" panose="02000000000000000000"/>
              </a:defRPr>
            </a:lvl5pPr>
            <a:lvl6pPr lvl="5" algn="r">
              <a:buNone/>
              <a:defRPr sz="1000">
                <a:solidFill>
                  <a:schemeClr val="dk1"/>
                </a:solidFill>
                <a:latin typeface="Roboto" panose="02000000000000000000"/>
                <a:ea typeface="Roboto" panose="02000000000000000000"/>
                <a:cs typeface="Roboto" panose="02000000000000000000"/>
                <a:sym typeface="Roboto" panose="02000000000000000000"/>
              </a:defRPr>
            </a:lvl6pPr>
            <a:lvl7pPr lvl="6" algn="r">
              <a:buNone/>
              <a:defRPr sz="1000">
                <a:solidFill>
                  <a:schemeClr val="dk1"/>
                </a:solidFill>
                <a:latin typeface="Roboto" panose="02000000000000000000"/>
                <a:ea typeface="Roboto" panose="02000000000000000000"/>
                <a:cs typeface="Roboto" panose="02000000000000000000"/>
                <a:sym typeface="Roboto" panose="02000000000000000000"/>
              </a:defRPr>
            </a:lvl7pPr>
            <a:lvl8pPr lvl="7" algn="r">
              <a:buNone/>
              <a:defRPr sz="1000">
                <a:solidFill>
                  <a:schemeClr val="dk1"/>
                </a:solidFill>
                <a:latin typeface="Roboto" panose="02000000000000000000"/>
                <a:ea typeface="Roboto" panose="02000000000000000000"/>
                <a:cs typeface="Roboto" panose="02000000000000000000"/>
                <a:sym typeface="Roboto" panose="02000000000000000000"/>
              </a:defRPr>
            </a:lvl8pPr>
            <a:lvl9pPr lvl="8" algn="r">
              <a:buNone/>
              <a:defRPr sz="1000">
                <a:solidFill>
                  <a:schemeClr val="dk1"/>
                </a:solidFill>
                <a:latin typeface="Roboto" panose="02000000000000000000"/>
                <a:ea typeface="Roboto" panose="02000000000000000000"/>
                <a:cs typeface="Roboto" panose="02000000000000000000"/>
                <a:sym typeface="Roboto" panose="02000000000000000000"/>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hyperlink" Target="https://www.kaggle.com/datasets/ananthr1/weather-prediction" TargetMode="Externa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3.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a:t>Data Valorization</a:t>
            </a:r>
            <a:endParaRPr lang="en-US"/>
          </a:p>
        </p:txBody>
      </p:sp>
      <p:sp>
        <p:nvSpPr>
          <p:cNvPr id="64" name="Google Shape;64;p13"/>
          <p:cNvSpPr txBox="1"/>
          <p:nvPr>
            <p:ph type="subTitle" idx="1"/>
          </p:nvPr>
        </p:nvSpPr>
        <p:spPr>
          <a:xfrm>
            <a:off x="1680302" y="3049450"/>
            <a:ext cx="5783400" cy="9090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US">
                <a:sym typeface="+mn-ea"/>
              </a:rPr>
              <a:t>Meng Li, </a:t>
            </a:r>
            <a:r>
              <a:rPr lang="en-US"/>
              <a:t>Alberto Garc</a:t>
            </a:r>
            <a:r>
              <a:rPr lang="en-US"/>
              <a:t>ía, Yassmin Zouarhi</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Business goal</a:t>
            </a:r>
            <a:endParaRPr lang="en-US"/>
          </a:p>
        </p:txBody>
      </p:sp>
      <p:sp>
        <p:nvSpPr>
          <p:cNvPr id="70" name="Google Shape;70;p14"/>
          <p:cNvSpPr txBox="1"/>
          <p:nvPr/>
        </p:nvSpPr>
        <p:spPr>
          <a:xfrm>
            <a:off x="334438" y="1600738"/>
            <a:ext cx="2487600" cy="191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Roboto" panose="02000000000000000000"/>
                <a:ea typeface="Roboto" panose="02000000000000000000"/>
                <a:cs typeface="Roboto" panose="02000000000000000000"/>
                <a:sym typeface="Roboto" panose="02000000000000000000"/>
              </a:rPr>
              <a:t>Business problem:</a:t>
            </a:r>
            <a:endParaRPr sz="18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endParaRPr sz="1800" b="1">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Business costs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Revenue loss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Safety risks</a:t>
            </a:r>
            <a:endParaRPr sz="1800">
              <a:solidFill>
                <a:schemeClr val="dk1"/>
              </a:solidFill>
              <a:latin typeface="Roboto" panose="02000000000000000000"/>
              <a:ea typeface="Roboto" panose="02000000000000000000"/>
              <a:cs typeface="Roboto" panose="02000000000000000000"/>
              <a:sym typeface="Roboto" panose="02000000000000000000"/>
            </a:endParaRPr>
          </a:p>
        </p:txBody>
      </p:sp>
      <p:sp>
        <p:nvSpPr>
          <p:cNvPr id="71" name="Google Shape;71;p14"/>
          <p:cNvSpPr txBox="1"/>
          <p:nvPr/>
        </p:nvSpPr>
        <p:spPr>
          <a:xfrm>
            <a:off x="6115563" y="1600738"/>
            <a:ext cx="2694000" cy="191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Roboto" panose="02000000000000000000"/>
                <a:ea typeface="Roboto" panose="02000000000000000000"/>
                <a:cs typeface="Roboto" panose="02000000000000000000"/>
                <a:sym typeface="Roboto" panose="02000000000000000000"/>
              </a:rPr>
              <a:t>Target users:</a:t>
            </a:r>
            <a:endParaRPr sz="18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endParaRPr sz="1800" b="1">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Energy providers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Agriculture and farming operations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Logistics, travelling, tourism, etc.</a:t>
            </a:r>
            <a:endParaRPr sz="1800">
              <a:solidFill>
                <a:schemeClr val="dk1"/>
              </a:solidFill>
              <a:latin typeface="Roboto" panose="02000000000000000000"/>
              <a:ea typeface="Roboto" panose="02000000000000000000"/>
              <a:cs typeface="Roboto" panose="02000000000000000000"/>
              <a:sym typeface="Roboto" panose="02000000000000000000"/>
            </a:endParaRPr>
          </a:p>
        </p:txBody>
      </p:sp>
      <p:sp>
        <p:nvSpPr>
          <p:cNvPr id="72" name="Google Shape;72;p14"/>
          <p:cNvSpPr txBox="1"/>
          <p:nvPr/>
        </p:nvSpPr>
        <p:spPr>
          <a:xfrm>
            <a:off x="3200112" y="1631463"/>
            <a:ext cx="2694000" cy="191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Roboto" panose="02000000000000000000"/>
                <a:ea typeface="Roboto" panose="02000000000000000000"/>
                <a:cs typeface="Roboto" panose="02000000000000000000"/>
                <a:sym typeface="Roboto" panose="02000000000000000000"/>
              </a:rPr>
              <a:t>Business value:</a:t>
            </a:r>
            <a:endParaRPr sz="18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endParaRPr sz="1800" b="1">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Cost reduction</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Increased efficiency and productivity</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Risk mitigation</a:t>
            </a:r>
            <a:endParaRPr sz="1800">
              <a:solidFill>
                <a:schemeClr val="dk1"/>
              </a:solidFill>
              <a:latin typeface="Roboto" panose="02000000000000000000"/>
              <a:ea typeface="Roboto" panose="02000000000000000000"/>
              <a:cs typeface="Roboto" panose="02000000000000000000"/>
              <a:sym typeface="Roboto" panose="02000000000000000000"/>
            </a:endParaRPr>
          </a:p>
        </p:txBody>
      </p:sp>
      <p:sp>
        <p:nvSpPr>
          <p:cNvPr id="73" name="Google Shape;73;p14"/>
          <p:cNvSpPr/>
          <p:nvPr/>
        </p:nvSpPr>
        <p:spPr>
          <a:xfrm>
            <a:off x="6142275" y="3968675"/>
            <a:ext cx="2640600" cy="373500"/>
          </a:xfrm>
          <a:prstGeom prst="roundRect">
            <a:avLst>
              <a:gd name="adj" fmla="val 16667"/>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74" name="Google Shape;74;p14"/>
          <p:cNvSpPr/>
          <p:nvPr/>
        </p:nvSpPr>
        <p:spPr>
          <a:xfrm>
            <a:off x="3238375" y="3771900"/>
            <a:ext cx="2640600" cy="570300"/>
          </a:xfrm>
          <a:prstGeom prst="roundRect">
            <a:avLst>
              <a:gd name="adj" fmla="val 16667"/>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75" name="Google Shape;75;p14"/>
          <p:cNvSpPr/>
          <p:nvPr/>
        </p:nvSpPr>
        <p:spPr>
          <a:xfrm>
            <a:off x="334450" y="3512050"/>
            <a:ext cx="2640600" cy="830100"/>
          </a:xfrm>
          <a:prstGeom prst="roundRect">
            <a:avLst>
              <a:gd name="adj" fmla="val 16667"/>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9" name="Shape 79"/>
        <p:cNvGrpSpPr/>
        <p:nvPr/>
      </p:nvGrpSpPr>
      <p:grpSpPr>
        <a:xfrm>
          <a:off x="0" y="0"/>
          <a:ext cx="0" cy="0"/>
          <a:chOff x="0" y="0"/>
          <a:chExt cx="0" cy="0"/>
        </a:xfrm>
      </p:grpSpPr>
      <p:sp>
        <p:nvSpPr>
          <p:cNvPr id="80" name="Google Shape;80;p15"/>
          <p:cNvSpPr txBox="1"/>
          <p:nvPr>
            <p:ph type="body" idx="1"/>
          </p:nvPr>
        </p:nvSpPr>
        <p:spPr>
          <a:xfrm>
            <a:off x="387900" y="1561175"/>
            <a:ext cx="3011100" cy="18474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US" sz="2400" b="1"/>
              <a:t>Provide an accurate estimation of the weather</a:t>
            </a:r>
            <a:endParaRPr sz="2400" b="1"/>
          </a:p>
        </p:txBody>
      </p:sp>
      <p:sp>
        <p:nvSpPr>
          <p:cNvPr id="81" name="Google Shape;81;p15"/>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Technical goal</a:t>
            </a:r>
            <a:endParaRPr lang="en-US"/>
          </a:p>
        </p:txBody>
      </p:sp>
      <p:sp>
        <p:nvSpPr>
          <p:cNvPr id="82" name="Google Shape;82;p15"/>
          <p:cNvSpPr/>
          <p:nvPr/>
        </p:nvSpPr>
        <p:spPr>
          <a:xfrm>
            <a:off x="387900" y="1561175"/>
            <a:ext cx="3011100" cy="18474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83" name="Google Shape;83;p15"/>
          <p:cNvSpPr/>
          <p:nvPr/>
        </p:nvSpPr>
        <p:spPr>
          <a:xfrm>
            <a:off x="4572002" y="4284204"/>
            <a:ext cx="1958400" cy="133500"/>
          </a:xfrm>
          <a:prstGeom prst="rect">
            <a:avLst/>
          </a:pr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15"/>
          <p:cNvSpPr/>
          <p:nvPr/>
        </p:nvSpPr>
        <p:spPr>
          <a:xfrm>
            <a:off x="6530402" y="4284204"/>
            <a:ext cx="1958400" cy="133500"/>
          </a:xfrm>
          <a:prstGeom prst="rect">
            <a:avLst/>
          </a:prstGeom>
          <a:solidFill>
            <a:srgbClr val="3876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15"/>
          <p:cNvSpPr txBox="1"/>
          <p:nvPr/>
        </p:nvSpPr>
        <p:spPr>
          <a:xfrm>
            <a:off x="1992600" y="4417688"/>
            <a:ext cx="12420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dk1"/>
                </a:solidFill>
                <a:latin typeface="Roboto" panose="02000000000000000000"/>
                <a:ea typeface="Roboto" panose="02000000000000000000"/>
                <a:cs typeface="Roboto" panose="02000000000000000000"/>
                <a:sym typeface="Roboto" panose="02000000000000000000"/>
              </a:rPr>
              <a:t>2012-2013</a:t>
            </a:r>
            <a:endParaRPr b="1">
              <a:solidFill>
                <a:schemeClr val="dk1"/>
              </a:solidFill>
              <a:latin typeface="Roboto" panose="02000000000000000000"/>
              <a:ea typeface="Roboto" panose="02000000000000000000"/>
              <a:cs typeface="Roboto" panose="02000000000000000000"/>
              <a:sym typeface="Roboto" panose="02000000000000000000"/>
            </a:endParaRPr>
          </a:p>
        </p:txBody>
      </p:sp>
      <p:sp>
        <p:nvSpPr>
          <p:cNvPr id="86" name="Google Shape;86;p15"/>
          <p:cNvSpPr txBox="1"/>
          <p:nvPr/>
        </p:nvSpPr>
        <p:spPr>
          <a:xfrm>
            <a:off x="5048250" y="4010000"/>
            <a:ext cx="10059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dk1"/>
                </a:solidFill>
                <a:latin typeface="Roboto" panose="02000000000000000000"/>
                <a:ea typeface="Roboto" panose="02000000000000000000"/>
                <a:cs typeface="Roboto" panose="02000000000000000000"/>
                <a:sym typeface="Roboto" panose="02000000000000000000"/>
              </a:rPr>
              <a:t>2014</a:t>
            </a:r>
            <a:endParaRPr b="1">
              <a:solidFill>
                <a:schemeClr val="dk1"/>
              </a:solidFill>
              <a:latin typeface="Roboto" panose="02000000000000000000"/>
              <a:ea typeface="Roboto" panose="02000000000000000000"/>
              <a:cs typeface="Roboto" panose="02000000000000000000"/>
              <a:sym typeface="Roboto" panose="02000000000000000000"/>
            </a:endParaRPr>
          </a:p>
        </p:txBody>
      </p:sp>
      <p:sp>
        <p:nvSpPr>
          <p:cNvPr id="87" name="Google Shape;87;p15"/>
          <p:cNvSpPr txBox="1"/>
          <p:nvPr/>
        </p:nvSpPr>
        <p:spPr>
          <a:xfrm>
            <a:off x="7006650" y="4417700"/>
            <a:ext cx="10059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chemeClr val="dk1"/>
                </a:solidFill>
                <a:latin typeface="Roboto" panose="02000000000000000000"/>
                <a:ea typeface="Roboto" panose="02000000000000000000"/>
                <a:cs typeface="Roboto" panose="02000000000000000000"/>
                <a:sym typeface="Roboto" panose="02000000000000000000"/>
              </a:rPr>
              <a:t>2015</a:t>
            </a:r>
            <a:endParaRPr b="1">
              <a:solidFill>
                <a:schemeClr val="dk1"/>
              </a:solidFill>
              <a:latin typeface="Roboto" panose="02000000000000000000"/>
              <a:ea typeface="Roboto" panose="02000000000000000000"/>
              <a:cs typeface="Roboto" panose="02000000000000000000"/>
              <a:sym typeface="Roboto" panose="02000000000000000000"/>
            </a:endParaRPr>
          </a:p>
        </p:txBody>
      </p:sp>
      <p:sp>
        <p:nvSpPr>
          <p:cNvPr id="88" name="Google Shape;88;p15"/>
          <p:cNvSpPr txBox="1"/>
          <p:nvPr/>
        </p:nvSpPr>
        <p:spPr>
          <a:xfrm>
            <a:off x="1828350" y="4691900"/>
            <a:ext cx="15705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chemeClr val="dk1"/>
                </a:solidFill>
                <a:latin typeface="Roboto" panose="02000000000000000000"/>
                <a:ea typeface="Roboto" panose="02000000000000000000"/>
                <a:cs typeface="Roboto" panose="02000000000000000000"/>
                <a:sym typeface="Roboto" panose="02000000000000000000"/>
              </a:rPr>
              <a:t>Training dataset</a:t>
            </a:r>
            <a:endParaRPr>
              <a:solidFill>
                <a:schemeClr val="dk1"/>
              </a:solidFill>
              <a:latin typeface="Roboto" panose="02000000000000000000"/>
              <a:ea typeface="Roboto" panose="02000000000000000000"/>
              <a:cs typeface="Roboto" panose="02000000000000000000"/>
              <a:sym typeface="Roboto" panose="02000000000000000000"/>
            </a:endParaRPr>
          </a:p>
        </p:txBody>
      </p:sp>
      <p:sp>
        <p:nvSpPr>
          <p:cNvPr id="89" name="Google Shape;89;p15"/>
          <p:cNvSpPr txBox="1"/>
          <p:nvPr/>
        </p:nvSpPr>
        <p:spPr>
          <a:xfrm>
            <a:off x="4653600" y="3735800"/>
            <a:ext cx="17952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chemeClr val="dk1"/>
                </a:solidFill>
                <a:latin typeface="Roboto" panose="02000000000000000000"/>
                <a:ea typeface="Roboto" panose="02000000000000000000"/>
                <a:cs typeface="Roboto" panose="02000000000000000000"/>
                <a:sym typeface="Roboto" panose="02000000000000000000"/>
              </a:rPr>
              <a:t>Validation dataset</a:t>
            </a:r>
            <a:endParaRPr>
              <a:solidFill>
                <a:schemeClr val="dk1"/>
              </a:solidFill>
              <a:latin typeface="Roboto" panose="02000000000000000000"/>
              <a:ea typeface="Roboto" panose="02000000000000000000"/>
              <a:cs typeface="Roboto" panose="02000000000000000000"/>
              <a:sym typeface="Roboto" panose="02000000000000000000"/>
            </a:endParaRPr>
          </a:p>
        </p:txBody>
      </p:sp>
      <p:sp>
        <p:nvSpPr>
          <p:cNvPr id="90" name="Google Shape;90;p15"/>
          <p:cNvSpPr txBox="1"/>
          <p:nvPr/>
        </p:nvSpPr>
        <p:spPr>
          <a:xfrm>
            <a:off x="6612000" y="4691900"/>
            <a:ext cx="1795200" cy="27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chemeClr val="dk1"/>
                </a:solidFill>
                <a:latin typeface="Roboto" panose="02000000000000000000"/>
                <a:ea typeface="Roboto" panose="02000000000000000000"/>
                <a:cs typeface="Roboto" panose="02000000000000000000"/>
                <a:sym typeface="Roboto" panose="02000000000000000000"/>
              </a:rPr>
              <a:t>Evaluation dataset</a:t>
            </a:r>
            <a:endParaRPr>
              <a:solidFill>
                <a:schemeClr val="dk1"/>
              </a:solidFill>
              <a:latin typeface="Roboto" panose="02000000000000000000"/>
              <a:ea typeface="Roboto" panose="02000000000000000000"/>
              <a:cs typeface="Roboto" panose="02000000000000000000"/>
              <a:sym typeface="Roboto" panose="02000000000000000000"/>
            </a:endParaRPr>
          </a:p>
        </p:txBody>
      </p:sp>
      <p:sp>
        <p:nvSpPr>
          <p:cNvPr id="91" name="Google Shape;91;p15"/>
          <p:cNvSpPr txBox="1"/>
          <p:nvPr/>
        </p:nvSpPr>
        <p:spPr>
          <a:xfrm>
            <a:off x="4027200" y="1571323"/>
            <a:ext cx="4728900" cy="1732200"/>
          </a:xfrm>
          <a:prstGeom prst="rect">
            <a:avLst/>
          </a:prstGeom>
          <a:noFill/>
          <a:ln>
            <a:noFill/>
          </a:ln>
        </p:spPr>
        <p:txBody>
          <a:bodyPr spcFirstLastPara="1" wrap="square" lIns="91425" tIns="91425" rIns="91425" bIns="91425" anchor="ctr" anchorCtr="0">
            <a:noAutofit/>
          </a:bodyPr>
          <a:lstStyle/>
          <a:p>
            <a:pPr marL="457200" lvl="0" indent="-342900" algn="l" rtl="0">
              <a:lnSpc>
                <a:spcPct val="200000"/>
              </a:lnSpc>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Trane, validate, evaluate method</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lnSpc>
                <a:spcPct val="200000"/>
              </a:lnSpc>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Search for hyperparameters</a:t>
            </a:r>
            <a:endParaRPr sz="1800">
              <a:solidFill>
                <a:schemeClr val="dk1"/>
              </a:solidFill>
              <a:latin typeface="Roboto" panose="02000000000000000000"/>
              <a:ea typeface="Roboto" panose="02000000000000000000"/>
              <a:cs typeface="Roboto" panose="02000000000000000000"/>
              <a:sym typeface="Roboto" panose="02000000000000000000"/>
            </a:endParaRPr>
          </a:p>
          <a:p>
            <a:pPr marL="457200" lvl="0" indent="-342900" algn="l" rtl="0">
              <a:lnSpc>
                <a:spcPct val="200000"/>
              </a:lnSpc>
              <a:spcBef>
                <a:spcPts val="0"/>
              </a:spcBef>
              <a:spcAft>
                <a:spcPts val="0"/>
              </a:spcAft>
              <a:buClr>
                <a:schemeClr val="dk1"/>
              </a:buClr>
              <a:buSzPts val="1800"/>
              <a:buFont typeface="Roboto" panose="02000000000000000000"/>
              <a:buChar char="●"/>
            </a:pPr>
            <a:r>
              <a:rPr lang="en-US" sz="1800">
                <a:solidFill>
                  <a:schemeClr val="dk1"/>
                </a:solidFill>
                <a:latin typeface="Roboto" panose="02000000000000000000"/>
                <a:ea typeface="Roboto" panose="02000000000000000000"/>
                <a:cs typeface="Roboto" panose="02000000000000000000"/>
                <a:sym typeface="Roboto" panose="02000000000000000000"/>
              </a:rPr>
              <a:t>Data o</a:t>
            </a:r>
            <a:r>
              <a:rPr lang="en-US" sz="1800">
                <a:solidFill>
                  <a:schemeClr val="dk1"/>
                </a:solidFill>
                <a:latin typeface="Roboto" panose="02000000000000000000"/>
                <a:ea typeface="Roboto" panose="02000000000000000000"/>
                <a:cs typeface="Roboto" panose="02000000000000000000"/>
                <a:sym typeface="Roboto" panose="02000000000000000000"/>
              </a:rPr>
              <a:t>rdered by date</a:t>
            </a:r>
            <a:endParaRPr sz="1800">
              <a:solidFill>
                <a:schemeClr val="dk1"/>
              </a:solidFill>
              <a:latin typeface="Roboto" panose="02000000000000000000"/>
              <a:ea typeface="Roboto" panose="02000000000000000000"/>
              <a:cs typeface="Roboto" panose="02000000000000000000"/>
              <a:sym typeface="Roboto" panose="02000000000000000000"/>
            </a:endParaRPr>
          </a:p>
        </p:txBody>
      </p:sp>
      <p:sp>
        <p:nvSpPr>
          <p:cNvPr id="92" name="Google Shape;92;p15"/>
          <p:cNvSpPr/>
          <p:nvPr/>
        </p:nvSpPr>
        <p:spPr>
          <a:xfrm>
            <a:off x="655198" y="4284200"/>
            <a:ext cx="3916800" cy="133500"/>
          </a:xfrm>
          <a:prstGeom prst="rect">
            <a:avLst/>
          </a:prstGeom>
          <a:solidFill>
            <a:srgbClr val="93C4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16"/>
          <p:cNvSpPr/>
          <p:nvPr/>
        </p:nvSpPr>
        <p:spPr>
          <a:xfrm>
            <a:off x="3175000" y="3485275"/>
            <a:ext cx="5628300" cy="13062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98" name="Google Shape;98;p16"/>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Data description</a:t>
            </a:r>
            <a:endParaRPr lang="en-US"/>
          </a:p>
        </p:txBody>
      </p:sp>
      <p:sp>
        <p:nvSpPr>
          <p:cNvPr id="99" name="Google Shape;99;p16"/>
          <p:cNvSpPr txBox="1"/>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Dataset name: </a:t>
            </a:r>
            <a:r>
              <a:rPr lang="en-US" sz="1200" b="1">
                <a:latin typeface="Arial" panose="020B0604020202020204"/>
                <a:ea typeface="Arial" panose="020B0604020202020204"/>
                <a:cs typeface="Arial" panose="020B0604020202020204"/>
                <a:sym typeface="Arial" panose="020B0604020202020204"/>
              </a:rPr>
              <a:t>Seattle Weather</a:t>
            </a:r>
            <a:endParaRPr sz="1200" b="1">
              <a:latin typeface="Arial" panose="020B0604020202020204"/>
              <a:ea typeface="Arial" panose="020B0604020202020204"/>
              <a:cs typeface="Arial" panose="020B0604020202020204"/>
              <a:sym typeface="Arial" panose="020B0604020202020204"/>
            </a:endParaRPr>
          </a:p>
          <a:p>
            <a:pPr marL="457200" lvl="0" indent="-304800" algn="l" rtl="0">
              <a:spcBef>
                <a:spcPts val="0"/>
              </a:spcBef>
              <a:spcAft>
                <a:spcPts val="0"/>
              </a:spcAft>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Number of records: </a:t>
            </a:r>
            <a:r>
              <a:rPr lang="en-US" sz="1200" b="1">
                <a:latin typeface="Arial" panose="020B0604020202020204"/>
                <a:ea typeface="Arial" panose="020B0604020202020204"/>
                <a:cs typeface="Arial" panose="020B0604020202020204"/>
                <a:sym typeface="Arial" panose="020B0604020202020204"/>
              </a:rPr>
              <a:t>1461 </a:t>
            </a:r>
            <a:r>
              <a:rPr lang="en-US" sz="1200">
                <a:latin typeface="Arial" panose="020B0604020202020204"/>
                <a:ea typeface="Arial" panose="020B0604020202020204"/>
                <a:cs typeface="Arial" panose="020B0604020202020204"/>
                <a:sym typeface="Arial" panose="020B0604020202020204"/>
              </a:rPr>
              <a:t> (daily observations)</a:t>
            </a:r>
            <a:endParaRPr sz="1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1200"/>
              </a:spcBef>
              <a:spcAft>
                <a:spcPts val="0"/>
              </a:spcAft>
              <a:buNone/>
            </a:pPr>
            <a:r>
              <a:rPr lang="en-US" sz="1200" b="1">
                <a:solidFill>
                  <a:schemeClr val="accent5"/>
                </a:solidFill>
                <a:latin typeface="Arial" panose="020B0604020202020204"/>
                <a:ea typeface="Arial" panose="020B0604020202020204"/>
                <a:cs typeface="Arial" panose="020B0604020202020204"/>
                <a:sym typeface="Arial" panose="020B0604020202020204"/>
              </a:rPr>
              <a:t>Quantitative variables:</a:t>
            </a:r>
            <a:endParaRPr sz="1200" b="1">
              <a:solidFill>
                <a:schemeClr val="accent5"/>
              </a:solidFill>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r>
              <a:rPr lang="en-US" sz="1200" b="1">
                <a:latin typeface="Arial" panose="020B0604020202020204"/>
                <a:ea typeface="Arial" panose="020B0604020202020204"/>
                <a:cs typeface="Arial" panose="020B0604020202020204"/>
                <a:sym typeface="Arial" panose="020B0604020202020204"/>
              </a:rPr>
              <a:t>           </a:t>
            </a:r>
            <a:endParaRPr sz="1200" b="1">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Date</a:t>
            </a:r>
            <a:endParaRPr sz="1200">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Precipitation (mm)</a:t>
            </a:r>
            <a:endParaRPr sz="1200">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Maximum temperature (°C)</a:t>
            </a:r>
            <a:endParaRPr sz="1200">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Minimum temperature (°C)</a:t>
            </a:r>
            <a:endParaRPr sz="1200">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Wind </a:t>
            </a:r>
            <a:r>
              <a:rPr lang="en-US" sz="1200">
                <a:latin typeface="Arial" panose="020B0604020202020204"/>
                <a:ea typeface="Arial" panose="020B0604020202020204"/>
                <a:cs typeface="Arial" panose="020B0604020202020204"/>
                <a:sym typeface="Arial" panose="020B0604020202020204"/>
              </a:rPr>
              <a:t>speed</a:t>
            </a:r>
            <a:r>
              <a:rPr lang="en-US" sz="1200">
                <a:latin typeface="Arial" panose="020B0604020202020204"/>
                <a:ea typeface="Arial" panose="020B0604020202020204"/>
                <a:cs typeface="Arial" panose="020B0604020202020204"/>
                <a:sym typeface="Arial" panose="020B0604020202020204"/>
              </a:rPr>
              <a:t>(km/h)</a:t>
            </a:r>
            <a:endParaRPr sz="1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sz="1200">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r>
              <a:rPr lang="en-US" sz="1200" b="1">
                <a:solidFill>
                  <a:schemeClr val="accent5"/>
                </a:solidFill>
                <a:latin typeface="Arial" panose="020B0604020202020204"/>
                <a:ea typeface="Arial" panose="020B0604020202020204"/>
                <a:cs typeface="Arial" panose="020B0604020202020204"/>
                <a:sym typeface="Arial" panose="020B0604020202020204"/>
              </a:rPr>
              <a:t>Qualitative variable:</a:t>
            </a:r>
            <a:endParaRPr sz="1200" b="1">
              <a:solidFill>
                <a:schemeClr val="accent5"/>
              </a:solidFill>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sz="1200" b="1">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0"/>
              </a:spcBef>
              <a:spcAft>
                <a:spcPts val="0"/>
              </a:spcAft>
              <a:buClr>
                <a:schemeClr val="dk1"/>
              </a:buClr>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Weather type </a:t>
            </a:r>
            <a:endParaRPr sz="1200">
              <a:latin typeface="Arial" panose="020B0604020202020204"/>
              <a:ea typeface="Arial" panose="020B0604020202020204"/>
              <a:cs typeface="Arial" panose="020B0604020202020204"/>
              <a:sym typeface="Arial" panose="020B0604020202020204"/>
            </a:endParaRPr>
          </a:p>
          <a:p>
            <a:pPr marL="457200" lvl="0" indent="0" algn="l" rtl="0">
              <a:lnSpc>
                <a:spcPct val="100000"/>
              </a:lnSpc>
              <a:spcBef>
                <a:spcPts val="0"/>
              </a:spcBef>
              <a:spcAft>
                <a:spcPts val="0"/>
              </a:spcAft>
              <a:buNone/>
            </a:pPr>
            <a:r>
              <a:rPr lang="en-US" sz="1200">
                <a:latin typeface="Arial" panose="020B0604020202020204"/>
                <a:ea typeface="Arial" panose="020B0604020202020204"/>
                <a:cs typeface="Arial" panose="020B0604020202020204"/>
                <a:sym typeface="Arial" panose="020B0604020202020204"/>
              </a:rPr>
              <a:t>(rain, sun, snow, fog, drizzle)</a:t>
            </a:r>
            <a:endParaRPr sz="1200" b="1">
              <a:latin typeface="Arial" panose="020B0604020202020204"/>
              <a:ea typeface="Arial" panose="020B0604020202020204"/>
              <a:cs typeface="Arial" panose="020B0604020202020204"/>
              <a:sym typeface="Arial" panose="020B0604020202020204"/>
            </a:endParaRPr>
          </a:p>
        </p:txBody>
      </p:sp>
      <p:pic>
        <p:nvPicPr>
          <p:cNvPr id="100" name="Google Shape;100;p16"/>
          <p:cNvPicPr preferRelativeResize="0"/>
          <p:nvPr/>
        </p:nvPicPr>
        <p:blipFill>
          <a:blip r:embed="rId1"/>
          <a:stretch>
            <a:fillRect/>
          </a:stretch>
        </p:blipFill>
        <p:spPr>
          <a:xfrm>
            <a:off x="3212888" y="3674652"/>
            <a:ext cx="5543226" cy="894075"/>
          </a:xfrm>
          <a:prstGeom prst="rect">
            <a:avLst/>
          </a:prstGeom>
          <a:noFill/>
          <a:ln>
            <a:noFill/>
          </a:ln>
        </p:spPr>
      </p:pic>
      <p:sp>
        <p:nvSpPr>
          <p:cNvPr id="101" name="Google Shape;101;p16"/>
          <p:cNvSpPr txBox="1"/>
          <p:nvPr/>
        </p:nvSpPr>
        <p:spPr>
          <a:xfrm>
            <a:off x="5696400" y="1489825"/>
            <a:ext cx="3059700" cy="9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a:solidFill>
                  <a:schemeClr val="dk1"/>
                </a:solidFill>
              </a:rPr>
              <a:t>Our dataset:</a:t>
            </a:r>
            <a:endParaRPr>
              <a:solidFill>
                <a:schemeClr val="dk1"/>
              </a:solidFill>
            </a:endParaRPr>
          </a:p>
          <a:p>
            <a:pPr marL="0" lvl="0" indent="0" algn="l" rtl="0">
              <a:lnSpc>
                <a:spcPct val="115000"/>
              </a:lnSpc>
              <a:spcBef>
                <a:spcPts val="1200"/>
              </a:spcBef>
              <a:spcAft>
                <a:spcPts val="1200"/>
              </a:spcAft>
              <a:buNone/>
            </a:pPr>
            <a:r>
              <a:rPr lang="en-US" sz="1200" u="sng">
                <a:solidFill>
                  <a:schemeClr val="accent5"/>
                </a:solidFill>
                <a:hlinkClick r:id="rId2"/>
              </a:rPr>
              <a:t>https://www.kaggle.com/datasets/ananthr1/weather-prediction</a:t>
            </a:r>
            <a:endParaRPr sz="1200">
              <a:solidFill>
                <a:schemeClr val="dk1"/>
              </a:solidFill>
              <a:latin typeface="Roboto" panose="02000000000000000000"/>
              <a:ea typeface="Roboto" panose="02000000000000000000"/>
              <a:cs typeface="Roboto" panose="02000000000000000000"/>
              <a:sym typeface="Roboto" panose="02000000000000000000"/>
            </a:endParaRPr>
          </a:p>
        </p:txBody>
      </p:sp>
      <p:sp>
        <p:nvSpPr>
          <p:cNvPr id="102" name="Google Shape;102;p16"/>
          <p:cNvSpPr/>
          <p:nvPr/>
        </p:nvSpPr>
        <p:spPr>
          <a:xfrm>
            <a:off x="5696425" y="1489825"/>
            <a:ext cx="3059700" cy="10818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7"/>
          <p:cNvSpPr/>
          <p:nvPr/>
        </p:nvSpPr>
        <p:spPr>
          <a:xfrm>
            <a:off x="238500" y="2901663"/>
            <a:ext cx="4556400" cy="20349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108" name="Google Shape;108;p17"/>
          <p:cNvSpPr txBox="1"/>
          <p:nvPr>
            <p:ph type="title"/>
          </p:nvPr>
        </p:nvSpPr>
        <p:spPr>
          <a:xfrm>
            <a:off x="387900" y="33610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sym typeface="+mn-ea"/>
              </a:rPr>
              <a:t>Data quality with univariate analysis</a:t>
            </a:r>
            <a:endParaRPr lang="en-US"/>
          </a:p>
        </p:txBody>
      </p:sp>
      <p:sp>
        <p:nvSpPr>
          <p:cNvPr id="109" name="Google Shape;109;p17"/>
          <p:cNvSpPr txBox="1"/>
          <p:nvPr>
            <p:ph type="body" idx="1"/>
          </p:nvPr>
        </p:nvSpPr>
        <p:spPr>
          <a:xfrm>
            <a:off x="387900" y="1489825"/>
            <a:ext cx="4257600" cy="1808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200">
                <a:solidFill>
                  <a:schemeClr val="accent5"/>
                </a:solidFill>
              </a:rPr>
              <a:t>Statistical summary:</a:t>
            </a:r>
            <a:endParaRPr sz="1200" b="1">
              <a:solidFill>
                <a:schemeClr val="accent5"/>
              </a:solidFill>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1200"/>
              </a:spcBef>
              <a:spcAft>
                <a:spcPts val="0"/>
              </a:spcAft>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The dataset contains 1,461 daily observations</a:t>
            </a:r>
            <a:endParaRPr sz="1200">
              <a:latin typeface="Arial" panose="020B0604020202020204"/>
              <a:ea typeface="Arial" panose="020B0604020202020204"/>
              <a:cs typeface="Arial" panose="020B0604020202020204"/>
              <a:sym typeface="Arial" panose="020B0604020202020204"/>
            </a:endParaRPr>
          </a:p>
          <a:p>
            <a:pPr marL="457200" lvl="0" indent="-304800" algn="l" rtl="0">
              <a:lnSpc>
                <a:spcPct val="100000"/>
              </a:lnSpc>
              <a:spcBef>
                <a:spcPts val="1200"/>
              </a:spcBef>
              <a:spcAft>
                <a:spcPts val="1200"/>
              </a:spcAft>
              <a:buSzPts val="1200"/>
              <a:buFont typeface="Arial" panose="020B0604020202020204"/>
              <a:buChar char="●"/>
            </a:pPr>
            <a:r>
              <a:rPr lang="en-US" sz="1200">
                <a:latin typeface="Arial" panose="020B0604020202020204"/>
                <a:ea typeface="Arial" panose="020B0604020202020204"/>
                <a:cs typeface="Arial" panose="020B0604020202020204"/>
                <a:sym typeface="Arial" panose="020B0604020202020204"/>
              </a:rPr>
              <a:t>Precipitation is highly skewed, with a median of 0 mm, indicating many dry days</a:t>
            </a:r>
            <a:endParaRPr sz="1200"/>
          </a:p>
        </p:txBody>
      </p:sp>
      <p:sp>
        <p:nvSpPr>
          <p:cNvPr id="110" name="Google Shape;110;p17"/>
          <p:cNvSpPr txBox="1"/>
          <p:nvPr/>
        </p:nvSpPr>
        <p:spPr>
          <a:xfrm>
            <a:off x="4808973" y="1852248"/>
            <a:ext cx="4212600" cy="24627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Font typeface="Arial" panose="020B0604020202020204"/>
              <a:buChar char="●"/>
            </a:pPr>
            <a:r>
              <a:rPr lang="en-US" sz="1200">
                <a:solidFill>
                  <a:schemeClr val="dk1"/>
                </a:solidFill>
              </a:rPr>
              <a:t>Maximum temperature ranges from −1.6°C to 35.6°C, with an average of 16.4°C</a:t>
            </a:r>
            <a:endParaRPr sz="1200">
              <a:solidFill>
                <a:schemeClr val="dk1"/>
              </a:solidFill>
            </a:endParaRPr>
          </a:p>
          <a:p>
            <a:pPr marL="457200" lvl="0" indent="-304800" algn="l" rtl="0">
              <a:spcBef>
                <a:spcPts val="1200"/>
              </a:spcBef>
              <a:spcAft>
                <a:spcPts val="0"/>
              </a:spcAft>
              <a:buClr>
                <a:schemeClr val="dk1"/>
              </a:buClr>
              <a:buSzPts val="1200"/>
              <a:buFont typeface="Arial" panose="020B0604020202020204"/>
              <a:buChar char="●"/>
            </a:pPr>
            <a:r>
              <a:rPr lang="en-US" sz="1200">
                <a:solidFill>
                  <a:schemeClr val="dk1"/>
                </a:solidFill>
              </a:rPr>
              <a:t>Minimum temperature ranges from −7.1°C to 18.3°C, with an average of 8.2°C</a:t>
            </a:r>
            <a:endParaRPr sz="1200">
              <a:solidFill>
                <a:schemeClr val="dk1"/>
              </a:solidFill>
            </a:endParaRPr>
          </a:p>
          <a:p>
            <a:pPr marL="457200" lvl="0" indent="-304800" algn="l" rtl="0">
              <a:spcBef>
                <a:spcPts val="1200"/>
              </a:spcBef>
              <a:spcAft>
                <a:spcPts val="0"/>
              </a:spcAft>
              <a:buClr>
                <a:schemeClr val="dk1"/>
              </a:buClr>
              <a:buSzPts val="1200"/>
              <a:buFont typeface="Arial" panose="020B0604020202020204"/>
              <a:buChar char="●"/>
            </a:pPr>
            <a:r>
              <a:rPr lang="en-US" sz="1200">
                <a:solidFill>
                  <a:schemeClr val="dk1"/>
                </a:solidFill>
              </a:rPr>
              <a:t>Wind speed shows moderate variability, with a mean of 3.24</a:t>
            </a:r>
            <a:endParaRPr sz="1200">
              <a:solidFill>
                <a:schemeClr val="dk1"/>
              </a:solidFill>
            </a:endParaRPr>
          </a:p>
          <a:p>
            <a:pPr marL="457200" lvl="0" indent="-304800" algn="l" rtl="0">
              <a:spcBef>
                <a:spcPts val="1200"/>
              </a:spcBef>
              <a:spcAft>
                <a:spcPts val="0"/>
              </a:spcAft>
              <a:buClr>
                <a:schemeClr val="dk1"/>
              </a:buClr>
              <a:buSzPts val="1200"/>
              <a:buFont typeface="Arial" panose="020B0604020202020204"/>
              <a:buChar char="●"/>
            </a:pPr>
            <a:r>
              <a:rPr lang="en-US" sz="1200">
                <a:solidFill>
                  <a:schemeClr val="dk1"/>
                </a:solidFill>
              </a:rPr>
              <a:t>The weather variable is categorical and describes daily weather conditions</a:t>
            </a:r>
            <a:endParaRPr sz="1200">
              <a:solidFill>
                <a:schemeClr val="dk1"/>
              </a:solidFill>
            </a:endParaRPr>
          </a:p>
          <a:p>
            <a:pPr marL="0" lvl="0" indent="0" algn="l" rtl="0">
              <a:lnSpc>
                <a:spcPct val="115000"/>
              </a:lnSpc>
              <a:spcBef>
                <a:spcPts val="1200"/>
              </a:spcBef>
              <a:spcAft>
                <a:spcPts val="1200"/>
              </a:spcAft>
              <a:buNone/>
            </a:pPr>
            <a:endParaRPr sz="1200">
              <a:solidFill>
                <a:schemeClr val="dk1"/>
              </a:solidFill>
              <a:latin typeface="Roboto" panose="02000000000000000000"/>
              <a:ea typeface="Roboto" panose="02000000000000000000"/>
              <a:cs typeface="Roboto" panose="02000000000000000000"/>
              <a:sym typeface="Roboto" panose="02000000000000000000"/>
            </a:endParaRPr>
          </a:p>
        </p:txBody>
      </p:sp>
      <p:pic>
        <p:nvPicPr>
          <p:cNvPr id="111" name="Google Shape;111;p17"/>
          <p:cNvPicPr preferRelativeResize="0"/>
          <p:nvPr/>
        </p:nvPicPr>
        <p:blipFill>
          <a:blip r:embed="rId1"/>
          <a:stretch>
            <a:fillRect/>
          </a:stretch>
        </p:blipFill>
        <p:spPr>
          <a:xfrm>
            <a:off x="387925" y="3014772"/>
            <a:ext cx="4257550" cy="1808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18"/>
          <p:cNvSpPr/>
          <p:nvPr/>
        </p:nvSpPr>
        <p:spPr>
          <a:xfrm>
            <a:off x="4185225" y="1352175"/>
            <a:ext cx="4899900" cy="35910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panose="02000000000000000000"/>
              <a:ea typeface="Roboto" panose="02000000000000000000"/>
              <a:cs typeface="Roboto" panose="02000000000000000000"/>
              <a:sym typeface="Roboto" panose="02000000000000000000"/>
            </a:endParaRPr>
          </a:p>
        </p:txBody>
      </p:sp>
      <p:sp>
        <p:nvSpPr>
          <p:cNvPr id="117" name="Google Shape;117;p18"/>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Data quality with univariate analysis</a:t>
            </a:r>
            <a:endParaRPr lang="en-US"/>
          </a:p>
        </p:txBody>
      </p:sp>
      <p:sp>
        <p:nvSpPr>
          <p:cNvPr id="118" name="Google Shape;118;p18"/>
          <p:cNvSpPr txBox="1"/>
          <p:nvPr>
            <p:ph type="body" idx="1"/>
          </p:nvPr>
        </p:nvSpPr>
        <p:spPr>
          <a:xfrm>
            <a:off x="387900" y="1489825"/>
            <a:ext cx="3826800" cy="32727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US" sz="4800">
                <a:solidFill>
                  <a:schemeClr val="accent5"/>
                </a:solidFill>
              </a:rPr>
              <a:t>Noise:</a:t>
            </a:r>
            <a:endParaRPr sz="4800">
              <a:solidFill>
                <a:schemeClr val="accent5"/>
              </a:solidFill>
            </a:endParaRPr>
          </a:p>
          <a:p>
            <a:pPr marL="0" lvl="0" indent="0" algn="l" rtl="0">
              <a:spcBef>
                <a:spcPts val="1200"/>
              </a:spcBef>
              <a:spcAft>
                <a:spcPts val="0"/>
              </a:spcAft>
              <a:buNone/>
            </a:pPr>
            <a:r>
              <a:rPr lang="en-US" sz="4800"/>
              <a:t>This frequency spectrum represents the distribution of noise across different frequencies for each weather variable.</a:t>
            </a:r>
            <a:endParaRPr sz="4800"/>
          </a:p>
          <a:p>
            <a:pPr marL="0" lvl="0" indent="0" algn="l" rtl="0">
              <a:spcBef>
                <a:spcPts val="1200"/>
              </a:spcBef>
              <a:spcAft>
                <a:spcPts val="0"/>
              </a:spcAft>
              <a:buNone/>
            </a:pPr>
            <a:r>
              <a:rPr lang="en-US" sz="4800"/>
              <a:t>Low-frequency components correspond to slow variations, while high-frequency components represent rapid and irregular fluctuations.</a:t>
            </a:r>
            <a:endParaRPr sz="4800"/>
          </a:p>
          <a:p>
            <a:pPr marL="0" lvl="0" indent="0" algn="l" rtl="0">
              <a:spcBef>
                <a:spcPts val="1200"/>
              </a:spcBef>
              <a:spcAft>
                <a:spcPts val="0"/>
              </a:spcAft>
              <a:buNone/>
            </a:pPr>
            <a:r>
              <a:rPr lang="en-US" sz="4800"/>
              <a:t>The dominance of high frequencies indicates that the residual variability is mainly random noise rather than structured patterns.</a:t>
            </a:r>
            <a:endParaRPr sz="4800"/>
          </a:p>
          <a:p>
            <a:pPr marL="0" lvl="0" indent="0" algn="l" rtl="0">
              <a:spcBef>
                <a:spcPts val="1200"/>
              </a:spcBef>
              <a:spcAft>
                <a:spcPts val="0"/>
              </a:spcAft>
              <a:buNone/>
            </a:pPr>
            <a:r>
              <a:rPr lang="en-US" sz="4800"/>
              <a:t>By applying a Fourier Transform to the residuals, we identify whether the unexplained variability is dominated by slow trends or rapid random fluctuations.</a:t>
            </a:r>
            <a:endParaRPr sz="4800"/>
          </a:p>
          <a:p>
            <a:pPr marL="0" lvl="0" indent="0" algn="l" rtl="0">
              <a:spcBef>
                <a:spcPts val="1200"/>
              </a:spcBef>
              <a:spcAft>
                <a:spcPts val="0"/>
              </a:spcAft>
              <a:buNone/>
            </a:pPr>
          </a:p>
          <a:p>
            <a:pPr marL="0" lvl="0" indent="0" algn="l" rtl="0">
              <a:spcBef>
                <a:spcPts val="1200"/>
              </a:spcBef>
              <a:spcAft>
                <a:spcPts val="0"/>
              </a:spcAft>
              <a:buNone/>
            </a:pPr>
          </a:p>
          <a:p>
            <a:pPr marL="0" lvl="0" indent="0" algn="l" rtl="0">
              <a:spcBef>
                <a:spcPts val="1200"/>
              </a:spcBef>
              <a:spcAft>
                <a:spcPts val="1200"/>
              </a:spcAft>
              <a:buNone/>
            </a:pPr>
          </a:p>
        </p:txBody>
      </p:sp>
      <p:pic>
        <p:nvPicPr>
          <p:cNvPr id="119" name="Google Shape;119;p18"/>
          <p:cNvPicPr preferRelativeResize="0"/>
          <p:nvPr/>
        </p:nvPicPr>
        <p:blipFill>
          <a:blip r:embed="rId1"/>
          <a:stretch>
            <a:fillRect/>
          </a:stretch>
        </p:blipFill>
        <p:spPr>
          <a:xfrm>
            <a:off x="4214700" y="1744777"/>
            <a:ext cx="4820700" cy="27627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0"/>
          <p:cNvSpPr/>
          <p:nvPr/>
        </p:nvSpPr>
        <p:spPr>
          <a:xfrm>
            <a:off x="2191732" y="2818951"/>
            <a:ext cx="4437600" cy="2059500"/>
          </a:xfrm>
          <a:prstGeom prst="roundRect">
            <a:avLst>
              <a:gd name="adj" fmla="val 16667"/>
            </a:avLst>
          </a:prstGeom>
          <a:solidFill>
            <a:schemeClr val="dk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33" name="Google Shape;133;p20"/>
          <p:cNvSpPr/>
          <p:nvPr/>
        </p:nvSpPr>
        <p:spPr>
          <a:xfrm>
            <a:off x="954600" y="1766773"/>
            <a:ext cx="6911700" cy="1628400"/>
          </a:xfrm>
          <a:prstGeom prst="roundRect">
            <a:avLst>
              <a:gd name="adj" fmla="val 16667"/>
            </a:avLst>
          </a:prstGeom>
          <a:solidFill>
            <a:schemeClr val="dk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34" name="Google Shape;134;p20"/>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Data quality with univariate analysis</a:t>
            </a:r>
            <a:endParaRPr lang="en-US"/>
          </a:p>
        </p:txBody>
      </p:sp>
      <p:pic>
        <p:nvPicPr>
          <p:cNvPr id="135" name="Google Shape;135;p20"/>
          <p:cNvPicPr preferRelativeResize="0"/>
          <p:nvPr/>
        </p:nvPicPr>
        <p:blipFill>
          <a:blip r:embed="rId1"/>
          <a:stretch>
            <a:fillRect/>
          </a:stretch>
        </p:blipFill>
        <p:spPr>
          <a:xfrm>
            <a:off x="1116761" y="1827557"/>
            <a:ext cx="6587494" cy="1506714"/>
          </a:xfrm>
          <a:prstGeom prst="rect">
            <a:avLst/>
          </a:prstGeom>
          <a:noFill/>
          <a:ln>
            <a:noFill/>
          </a:ln>
        </p:spPr>
      </p:pic>
      <p:pic>
        <p:nvPicPr>
          <p:cNvPr id="136" name="Google Shape;136;p20"/>
          <p:cNvPicPr preferRelativeResize="0"/>
          <p:nvPr/>
        </p:nvPicPr>
        <p:blipFill>
          <a:blip r:embed="rId2"/>
          <a:stretch>
            <a:fillRect/>
          </a:stretch>
        </p:blipFill>
        <p:spPr>
          <a:xfrm>
            <a:off x="2449279" y="3334256"/>
            <a:ext cx="3922467" cy="1506714"/>
          </a:xfrm>
          <a:prstGeom prst="rect">
            <a:avLst/>
          </a:prstGeom>
          <a:noFill/>
          <a:ln>
            <a:noFill/>
          </a:ln>
        </p:spPr>
      </p:pic>
      <p:sp>
        <p:nvSpPr>
          <p:cNvPr id="137" name="Google Shape;137;p20"/>
          <p:cNvSpPr/>
          <p:nvPr/>
        </p:nvSpPr>
        <p:spPr>
          <a:xfrm>
            <a:off x="2064379" y="3345964"/>
            <a:ext cx="204600" cy="150600"/>
          </a:xfrm>
          <a:prstGeom prst="rect">
            <a:avLst/>
          </a:prstGeom>
          <a:solidFill>
            <a:schemeClr val="dk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38" name="Google Shape;138;p20"/>
          <p:cNvSpPr/>
          <p:nvPr/>
        </p:nvSpPr>
        <p:spPr>
          <a:xfrm>
            <a:off x="1630754" y="3395044"/>
            <a:ext cx="561000" cy="691800"/>
          </a:xfrm>
          <a:prstGeom prst="roundRect">
            <a:avLst>
              <a:gd name="adj" fmla="val 16667"/>
            </a:avLst>
          </a:prstGeom>
          <a:solidFill>
            <a:schemeClr val="lt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39" name="Google Shape;139;p20"/>
          <p:cNvSpPr/>
          <p:nvPr/>
        </p:nvSpPr>
        <p:spPr>
          <a:xfrm>
            <a:off x="6440745" y="3345964"/>
            <a:ext cx="366000" cy="212100"/>
          </a:xfrm>
          <a:prstGeom prst="rect">
            <a:avLst/>
          </a:prstGeom>
          <a:solidFill>
            <a:schemeClr val="dk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40" name="Google Shape;140;p20"/>
          <p:cNvSpPr/>
          <p:nvPr/>
        </p:nvSpPr>
        <p:spPr>
          <a:xfrm>
            <a:off x="6629314" y="3395033"/>
            <a:ext cx="561000" cy="691800"/>
          </a:xfrm>
          <a:prstGeom prst="roundRect">
            <a:avLst>
              <a:gd name="adj" fmla="val 16667"/>
            </a:avLst>
          </a:prstGeom>
          <a:solidFill>
            <a:schemeClr val="lt1"/>
          </a:solidFill>
          <a:ln>
            <a:noFill/>
          </a:ln>
        </p:spPr>
        <p:txBody>
          <a:bodyPr spcFirstLastPara="1" wrap="square" lIns="78975" tIns="78975" rIns="78975" bIns="78975" anchor="ctr" anchorCtr="0">
            <a:noAutofit/>
          </a:bodyPr>
          <a:lstStyle/>
          <a:p>
            <a:pPr marL="0" lvl="0" indent="0" algn="ctr" rtl="0">
              <a:spcBef>
                <a:spcPts val="0"/>
              </a:spcBef>
              <a:spcAft>
                <a:spcPts val="0"/>
              </a:spcAft>
              <a:buNone/>
            </a:pPr>
            <a:endParaRPr sz="1210">
              <a:latin typeface="Roboto" panose="02000000000000000000"/>
              <a:ea typeface="Roboto" panose="02000000000000000000"/>
              <a:cs typeface="Roboto" panose="02000000000000000000"/>
              <a:sym typeface="Roboto" panose="02000000000000000000"/>
            </a:endParaRPr>
          </a:p>
        </p:txBody>
      </p:sp>
      <p:sp>
        <p:nvSpPr>
          <p:cNvPr id="141" name="Google Shape;141;p20"/>
          <p:cNvSpPr txBox="1"/>
          <p:nvPr/>
        </p:nvSpPr>
        <p:spPr>
          <a:xfrm>
            <a:off x="501675" y="1313650"/>
            <a:ext cx="1947600" cy="513900"/>
          </a:xfrm>
          <a:prstGeom prst="rect">
            <a:avLst/>
          </a:prstGeom>
          <a:noFill/>
          <a:ln>
            <a:noFill/>
          </a:ln>
        </p:spPr>
        <p:txBody>
          <a:bodyPr spcFirstLastPara="1" wrap="square" lIns="91425" tIns="91425" rIns="91425" bIns="91425" anchor="t" anchorCtr="0">
            <a:normAutofit fontScale="40000" lnSpcReduction="20000"/>
          </a:bodyPr>
          <a:lstStyle/>
          <a:p>
            <a:pPr marL="0" lvl="0" indent="0" algn="l" rtl="0">
              <a:lnSpc>
                <a:spcPct val="115000"/>
              </a:lnSpc>
              <a:spcBef>
                <a:spcPts val="0"/>
              </a:spcBef>
              <a:spcAft>
                <a:spcPts val="1200"/>
              </a:spcAft>
              <a:buNone/>
            </a:pPr>
            <a:r>
              <a:rPr lang="en-US" sz="5500" u="sng">
                <a:solidFill>
                  <a:schemeClr val="dk1"/>
                </a:solidFill>
                <a:latin typeface="Roboto" panose="02000000000000000000"/>
                <a:ea typeface="Roboto" panose="02000000000000000000"/>
                <a:cs typeface="Roboto" panose="02000000000000000000"/>
                <a:sym typeface="Roboto" panose="02000000000000000000"/>
              </a:rPr>
              <a:t>Outliers:</a:t>
            </a:r>
            <a:endParaRPr lang="en-US" sz="5500" u="sng">
              <a:solidFill>
                <a:schemeClr val="dk1"/>
              </a:solidFill>
              <a:latin typeface="Roboto" panose="02000000000000000000"/>
              <a:ea typeface="Roboto" panose="02000000000000000000"/>
              <a:cs typeface="Roboto" panose="02000000000000000000"/>
              <a:sym typeface="Roboto" panose="02000000000000000000"/>
            </a:endParaRPr>
          </a:p>
        </p:txBody>
      </p:sp>
      <p:sp>
        <p:nvSpPr>
          <p:cNvPr id="2" name="文本框 1"/>
          <p:cNvSpPr txBox="1"/>
          <p:nvPr/>
        </p:nvSpPr>
        <p:spPr>
          <a:xfrm>
            <a:off x="9631680" y="3145155"/>
            <a:ext cx="3048000" cy="306705"/>
          </a:xfrm>
          <a:prstGeom prst="rect">
            <a:avLst/>
          </a:prstGeom>
          <a:noFill/>
        </p:spPr>
        <p:txBody>
          <a:bodyPr wrap="square" rtlCol="0">
            <a:spAutoFit/>
          </a:bodyPr>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Data quality with univariate analysis</a:t>
            </a:r>
            <a:endParaRPr lang="en-US"/>
          </a:p>
        </p:txBody>
      </p:sp>
      <p:sp>
        <p:nvSpPr>
          <p:cNvPr id="154" name="Google Shape;154;p22"/>
          <p:cNvSpPr txBox="1"/>
          <p:nvPr>
            <p:ph type="body" idx="1"/>
          </p:nvPr>
        </p:nvSpPr>
        <p:spPr>
          <a:xfrm>
            <a:off x="387900" y="1489825"/>
            <a:ext cx="3826800" cy="3078900"/>
          </a:xfrm>
          <a:prstGeom prst="rect">
            <a:avLst/>
          </a:prstGeom>
        </p:spPr>
        <p:txBody>
          <a:bodyPr spcFirstLastPara="1" wrap="square" lIns="91425" tIns="91425" rIns="91425" bIns="91425" anchor="t" anchorCtr="0">
            <a:noAutofit/>
          </a:bodyPr>
          <a:lstStyle/>
          <a:p>
            <a:pPr marL="114300" lvl="0" indent="0" algn="l" rtl="0">
              <a:spcBef>
                <a:spcPts val="0"/>
              </a:spcBef>
              <a:spcAft>
                <a:spcPts val="0"/>
              </a:spcAft>
              <a:buClr>
                <a:schemeClr val="dk1"/>
              </a:buClr>
              <a:buSzPts val="1800"/>
              <a:buNone/>
            </a:pPr>
            <a:r>
              <a:rPr lang="en-US" u="sng"/>
              <a:t>Missing values:</a:t>
            </a:r>
            <a:endParaRPr u="sng"/>
          </a:p>
          <a:p>
            <a:pPr marL="457200" lvl="0" indent="-298450" algn="l" rtl="0">
              <a:lnSpc>
                <a:spcPct val="100000"/>
              </a:lnSpc>
              <a:spcBef>
                <a:spcPts val="0"/>
              </a:spcBef>
              <a:spcAft>
                <a:spcPts val="0"/>
              </a:spcAft>
              <a:buClr>
                <a:schemeClr val="dk1"/>
              </a:buClr>
              <a:buSzPts val="1100"/>
              <a:buFont typeface="Arial" panose="020B0604020202020204"/>
              <a:buChar char="●"/>
            </a:pPr>
            <a:r>
              <a:rPr lang="en-US" sz="1100">
                <a:latin typeface="Arial" panose="020B0604020202020204"/>
                <a:ea typeface="Arial" panose="020B0604020202020204"/>
                <a:cs typeface="Arial" panose="020B0604020202020204"/>
                <a:sym typeface="Arial" panose="020B0604020202020204"/>
              </a:rPr>
              <a:t>All variables were checked for missing values</a:t>
            </a:r>
            <a:endParaRPr sz="1100">
              <a:latin typeface="Arial" panose="020B0604020202020204"/>
              <a:ea typeface="Arial" panose="020B0604020202020204"/>
              <a:cs typeface="Arial" panose="020B0604020202020204"/>
              <a:sym typeface="Arial" panose="020B0604020202020204"/>
            </a:endParaRPr>
          </a:p>
          <a:p>
            <a:pPr marL="457200" lvl="0" indent="-298450" algn="l" rtl="0">
              <a:lnSpc>
                <a:spcPct val="100000"/>
              </a:lnSpc>
              <a:spcBef>
                <a:spcPts val="0"/>
              </a:spcBef>
              <a:spcAft>
                <a:spcPts val="0"/>
              </a:spcAft>
              <a:buClr>
                <a:schemeClr val="dk1"/>
              </a:buClr>
              <a:buSzPts val="1100"/>
              <a:buFont typeface="Arial" panose="020B0604020202020204"/>
              <a:buChar char="●"/>
            </a:pPr>
            <a:r>
              <a:rPr lang="en-US" sz="1100">
                <a:latin typeface="Arial" panose="020B0604020202020204"/>
                <a:ea typeface="Arial" panose="020B0604020202020204"/>
                <a:cs typeface="Arial" panose="020B0604020202020204"/>
                <a:sym typeface="Arial" panose="020B0604020202020204"/>
              </a:rPr>
              <a:t>No missing values were detected in the dataset</a:t>
            </a:r>
            <a:endParaRPr sz="1100">
              <a:latin typeface="Arial" panose="020B0604020202020204"/>
              <a:ea typeface="Arial" panose="020B0604020202020204"/>
              <a:cs typeface="Arial" panose="020B0604020202020204"/>
              <a:sym typeface="Arial" panose="020B0604020202020204"/>
            </a:endParaRPr>
          </a:p>
          <a:p>
            <a:pPr marL="457200" lvl="0" indent="-298450" algn="l" rtl="0">
              <a:lnSpc>
                <a:spcPct val="100000"/>
              </a:lnSpc>
              <a:spcBef>
                <a:spcPts val="0"/>
              </a:spcBef>
              <a:spcAft>
                <a:spcPts val="0"/>
              </a:spcAft>
              <a:buClr>
                <a:schemeClr val="dk1"/>
              </a:buClr>
              <a:buSzPts val="1100"/>
              <a:buFont typeface="Arial" panose="020B0604020202020204"/>
              <a:buChar char="●"/>
            </a:pPr>
            <a:r>
              <a:rPr lang="en-US" sz="1100">
                <a:latin typeface="Arial" panose="020B0604020202020204"/>
                <a:ea typeface="Arial" panose="020B0604020202020204"/>
                <a:cs typeface="Arial" panose="020B0604020202020204"/>
                <a:sym typeface="Arial" panose="020B0604020202020204"/>
              </a:rPr>
              <a:t>The dataset is complete and ready for analysis</a:t>
            </a:r>
            <a:endParaRPr sz="1100">
              <a:latin typeface="Arial" panose="020B0604020202020204"/>
              <a:ea typeface="Arial" panose="020B0604020202020204"/>
              <a:cs typeface="Arial" panose="020B0604020202020204"/>
              <a:sym typeface="Arial" panose="020B0604020202020204"/>
            </a:endParaRPr>
          </a:p>
          <a:p>
            <a:pPr marL="457200" lvl="0" indent="-298450" algn="l" rtl="0">
              <a:lnSpc>
                <a:spcPct val="100000"/>
              </a:lnSpc>
              <a:spcBef>
                <a:spcPts val="0"/>
              </a:spcBef>
              <a:spcAft>
                <a:spcPts val="0"/>
              </a:spcAft>
              <a:buClr>
                <a:schemeClr val="dk1"/>
              </a:buClr>
              <a:buSzPts val="1100"/>
              <a:buFont typeface="Arial" panose="020B0604020202020204"/>
              <a:buChar char="●"/>
            </a:pPr>
            <a:r>
              <a:rPr lang="en-US" sz="1100">
                <a:latin typeface="Arial" panose="020B0604020202020204"/>
                <a:ea typeface="Arial" panose="020B0604020202020204"/>
                <a:cs typeface="Arial" panose="020B0604020202020204"/>
                <a:sym typeface="Arial" panose="020B0604020202020204"/>
              </a:rPr>
              <a:t>No imputation or data removal was required</a:t>
            </a:r>
            <a:endParaRPr sz="1100">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endParaRPr u="sng"/>
          </a:p>
          <a:p>
            <a:pPr marL="0" lvl="0" indent="0" algn="l" rtl="0">
              <a:spcBef>
                <a:spcPts val="1200"/>
              </a:spcBef>
              <a:spcAft>
                <a:spcPts val="0"/>
              </a:spcAft>
              <a:buNone/>
            </a:pPr>
          </a:p>
          <a:p>
            <a:pPr marL="0" lvl="0" indent="0" algn="l" rtl="0">
              <a:spcBef>
                <a:spcPts val="1200"/>
              </a:spcBef>
              <a:spcAft>
                <a:spcPts val="0"/>
              </a:spcAft>
              <a:buNone/>
            </a:pPr>
          </a:p>
          <a:p>
            <a:pPr marL="0" lvl="0" indent="0" algn="l" rtl="0">
              <a:spcBef>
                <a:spcPts val="1200"/>
              </a:spcBef>
              <a:spcAft>
                <a:spcPts val="0"/>
              </a:spcAft>
              <a:buNone/>
            </a:pPr>
          </a:p>
          <a:p>
            <a:pPr marL="0" lvl="0" indent="0" algn="l" rtl="0">
              <a:spcBef>
                <a:spcPts val="1200"/>
              </a:spcBef>
              <a:spcAft>
                <a:spcPts val="0"/>
              </a:spcAft>
              <a:buNone/>
            </a:pPr>
          </a:p>
          <a:p>
            <a:pPr marL="0" lvl="0" indent="0" algn="l" rtl="0">
              <a:spcBef>
                <a:spcPts val="1200"/>
              </a:spcBef>
              <a:spcAft>
                <a:spcPts val="1200"/>
              </a:spcAft>
              <a:buNone/>
            </a:pPr>
          </a:p>
        </p:txBody>
      </p:sp>
      <p:pic>
        <p:nvPicPr>
          <p:cNvPr id="155" name="Google Shape;155;p22"/>
          <p:cNvPicPr preferRelativeResize="0"/>
          <p:nvPr/>
        </p:nvPicPr>
        <p:blipFill>
          <a:blip r:embed="rId1"/>
          <a:stretch>
            <a:fillRect/>
          </a:stretch>
        </p:blipFill>
        <p:spPr>
          <a:xfrm>
            <a:off x="657950" y="2910475"/>
            <a:ext cx="7043299" cy="1304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9" name="Shape 159"/>
        <p:cNvGrpSpPr/>
        <p:nvPr/>
      </p:nvGrpSpPr>
      <p:grpSpPr>
        <a:xfrm>
          <a:off x="0" y="0"/>
          <a:ext cx="0" cy="0"/>
          <a:chOff x="0" y="0"/>
          <a:chExt cx="0" cy="0"/>
        </a:xfrm>
      </p:grpSpPr>
      <p:sp>
        <p:nvSpPr>
          <p:cNvPr id="160" name="Google Shape;160;p23"/>
          <p:cNvSpPr txBox="1"/>
          <p:nvPr>
            <p:ph type="body" idx="1"/>
          </p:nvPr>
        </p:nvSpPr>
        <p:spPr>
          <a:xfrm>
            <a:off x="387900" y="1137766"/>
            <a:ext cx="3065400" cy="38670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n-US"/>
              <a:t>From the correlation matrix heatmap, it can be observed that the maximum and minimum daily temperatures are highly correlated, with a correlation coefficient of 0.88. </a:t>
            </a:r>
            <a:endParaRPr lang="en-US"/>
          </a:p>
          <a:p>
            <a:pPr marL="0" lvl="0" indent="0" algn="just" rtl="0">
              <a:spcBef>
                <a:spcPts val="1200"/>
              </a:spcBef>
              <a:spcAft>
                <a:spcPts val="1200"/>
              </a:spcAft>
              <a:buNone/>
            </a:pPr>
            <a:r>
              <a:rPr lang="en-US"/>
              <a:t>In contrast, the minimum daily temperature shows very weak correlations with wind speed and precipitation, with correlation coefficients of −0.07 and values close to zero, indicating that these variables are nearly independent.</a:t>
            </a:r>
            <a:endParaRPr lang="en-US"/>
          </a:p>
        </p:txBody>
      </p:sp>
      <p:sp>
        <p:nvSpPr>
          <p:cNvPr id="161" name="Google Shape;161;p23"/>
          <p:cNvSpPr txBox="1"/>
          <p:nvPr>
            <p:ph type="title"/>
          </p:nvPr>
        </p:nvSpPr>
        <p:spPr>
          <a:xfrm>
            <a:off x="387900" y="284843"/>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a:t>
            </a:r>
            <a:r>
              <a:rPr lang="en-US"/>
              <a:t>ependences between the variables</a:t>
            </a:r>
            <a:endParaRPr lang="en-US"/>
          </a:p>
        </p:txBody>
      </p:sp>
      <p:pic>
        <p:nvPicPr>
          <p:cNvPr id="162" name="Google Shape;162;p23"/>
          <p:cNvPicPr preferRelativeResize="0"/>
          <p:nvPr/>
        </p:nvPicPr>
        <p:blipFill>
          <a:blip r:embed="rId1"/>
          <a:stretch>
            <a:fillRect/>
          </a:stretch>
        </p:blipFill>
        <p:spPr>
          <a:xfrm>
            <a:off x="3669827" y="1209925"/>
            <a:ext cx="4993399" cy="3636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387900" y="313707"/>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Dependences between the variables</a:t>
            </a:r>
            <a:endParaRPr lang="en-US"/>
          </a:p>
        </p:txBody>
      </p:sp>
      <p:pic>
        <p:nvPicPr>
          <p:cNvPr id="168" name="Google Shape;168;p24"/>
          <p:cNvPicPr preferRelativeResize="0"/>
          <p:nvPr/>
        </p:nvPicPr>
        <p:blipFill>
          <a:blip r:embed="rId1"/>
          <a:stretch>
            <a:fillRect/>
          </a:stretch>
        </p:blipFill>
        <p:spPr>
          <a:xfrm>
            <a:off x="412175" y="1238800"/>
            <a:ext cx="3979249" cy="3376350"/>
          </a:xfrm>
          <a:prstGeom prst="rect">
            <a:avLst/>
          </a:prstGeom>
          <a:noFill/>
          <a:ln>
            <a:noFill/>
          </a:ln>
        </p:spPr>
      </p:pic>
      <p:pic>
        <p:nvPicPr>
          <p:cNvPr id="169" name="Google Shape;169;p24"/>
          <p:cNvPicPr preferRelativeResize="0"/>
          <p:nvPr/>
        </p:nvPicPr>
        <p:blipFill>
          <a:blip r:embed="rId2"/>
          <a:stretch>
            <a:fillRect/>
          </a:stretch>
        </p:blipFill>
        <p:spPr>
          <a:xfrm>
            <a:off x="4572000" y="1238800"/>
            <a:ext cx="4174251" cy="3376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387900" y="39502"/>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Multivariate statistical analysis of data</a:t>
            </a:r>
            <a:endParaRPr lang="en-US"/>
          </a:p>
        </p:txBody>
      </p:sp>
      <p:pic>
        <p:nvPicPr>
          <p:cNvPr id="175" name="Google Shape;175;p25"/>
          <p:cNvPicPr preferRelativeResize="0"/>
          <p:nvPr/>
        </p:nvPicPr>
        <p:blipFill>
          <a:blip r:embed="rId1"/>
          <a:stretch>
            <a:fillRect/>
          </a:stretch>
        </p:blipFill>
        <p:spPr>
          <a:xfrm>
            <a:off x="1119338" y="849132"/>
            <a:ext cx="3063601" cy="1908516"/>
          </a:xfrm>
          <a:prstGeom prst="rect">
            <a:avLst/>
          </a:prstGeom>
          <a:noFill/>
          <a:ln>
            <a:noFill/>
          </a:ln>
        </p:spPr>
      </p:pic>
      <p:pic>
        <p:nvPicPr>
          <p:cNvPr id="176" name="Google Shape;176;p25"/>
          <p:cNvPicPr preferRelativeResize="0"/>
          <p:nvPr/>
        </p:nvPicPr>
        <p:blipFill>
          <a:blip r:embed="rId2"/>
          <a:stretch>
            <a:fillRect/>
          </a:stretch>
        </p:blipFill>
        <p:spPr>
          <a:xfrm>
            <a:off x="4398825" y="857950"/>
            <a:ext cx="3092197" cy="1908526"/>
          </a:xfrm>
          <a:prstGeom prst="rect">
            <a:avLst/>
          </a:prstGeom>
          <a:noFill/>
          <a:ln>
            <a:noFill/>
          </a:ln>
        </p:spPr>
      </p:pic>
      <p:pic>
        <p:nvPicPr>
          <p:cNvPr id="177" name="Google Shape;177;p25"/>
          <p:cNvPicPr preferRelativeResize="0"/>
          <p:nvPr/>
        </p:nvPicPr>
        <p:blipFill>
          <a:blip r:embed="rId3"/>
          <a:stretch>
            <a:fillRect/>
          </a:stretch>
        </p:blipFill>
        <p:spPr>
          <a:xfrm>
            <a:off x="1119355" y="2953099"/>
            <a:ext cx="3063591" cy="1893676"/>
          </a:xfrm>
          <a:prstGeom prst="rect">
            <a:avLst/>
          </a:prstGeom>
          <a:noFill/>
          <a:ln>
            <a:noFill/>
          </a:ln>
        </p:spPr>
      </p:pic>
      <p:pic>
        <p:nvPicPr>
          <p:cNvPr id="178" name="Google Shape;178;p25"/>
          <p:cNvPicPr preferRelativeResize="0"/>
          <p:nvPr/>
        </p:nvPicPr>
        <p:blipFill>
          <a:blip r:embed="rId4"/>
          <a:stretch>
            <a:fillRect/>
          </a:stretch>
        </p:blipFill>
        <p:spPr>
          <a:xfrm>
            <a:off x="4407508" y="2965687"/>
            <a:ext cx="3063600" cy="18987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26"/>
          <p:cNvSpPr txBox="1"/>
          <p:nvPr>
            <p:ph type="body" idx="1"/>
          </p:nvPr>
        </p:nvSpPr>
        <p:spPr>
          <a:xfrm>
            <a:off x="387900" y="1489824"/>
            <a:ext cx="8368200" cy="3078900"/>
          </a:xfrm>
          <a:prstGeom prst="rect">
            <a:avLst/>
          </a:prstGeom>
        </p:spPr>
        <p:txBody>
          <a:bodyPr spcFirstLastPara="1" wrap="square" lIns="91425" tIns="91425" rIns="91425" bIns="91425" anchor="t" anchorCtr="0">
            <a:normAutofit fontScale="90000"/>
          </a:bodyPr>
          <a:lstStyle/>
          <a:p>
            <a:pPr marL="0" lvl="0" indent="0" algn="l" rtl="0">
              <a:spcBef>
                <a:spcPts val="1200"/>
              </a:spcBef>
              <a:spcAft>
                <a:spcPts val="0"/>
              </a:spcAft>
              <a:buNone/>
            </a:pPr>
            <a:r>
              <a:rPr lang="en-US">
                <a:sym typeface="+mn-ea"/>
              </a:rPr>
              <a:t>Last but not least, the final selected variables for our study are maximum temperature, wind speed, precipitation, and date.</a:t>
            </a:r>
            <a:endParaRPr lang="en-US"/>
          </a:p>
          <a:p>
            <a:pPr marL="0" lvl="0" indent="0" algn="l" rtl="0">
              <a:spcBef>
                <a:spcPts val="1200"/>
              </a:spcBef>
              <a:spcAft>
                <a:spcPts val="0"/>
              </a:spcAft>
              <a:buNone/>
            </a:pPr>
            <a:r>
              <a:rPr lang="en-US"/>
              <a:t>From the correlation plot between maximum and minimum temperatures, as well as the boxplots across weather categories, it is evident that these two variables carry very similar information. Therefore, we can select only one of them for further analysis.</a:t>
            </a:r>
            <a:endParaRPr lang="en-US"/>
          </a:p>
          <a:p>
            <a:pPr marL="0" lvl="0" indent="0" algn="l" rtl="0">
              <a:spcBef>
                <a:spcPts val="1200"/>
              </a:spcBef>
              <a:spcAft>
                <a:spcPts val="0"/>
              </a:spcAft>
              <a:buNone/>
            </a:pPr>
            <a:r>
              <a:rPr lang="en-US"/>
              <a:t>Since wind speed and precipitation both show significant influence on weather classification, we remain these two features as well. In addition, temperature exhibits clear seasonal variation over time, so the time variable is naturally preserved.</a:t>
            </a:r>
            <a:endParaRPr lang="en-US"/>
          </a:p>
        </p:txBody>
      </p:sp>
      <p:sp>
        <p:nvSpPr>
          <p:cNvPr id="184" name="Google Shape;184;p26"/>
          <p:cNvSpPr txBox="1"/>
          <p:nvPr>
            <p:ph type="title"/>
          </p:nvPr>
        </p:nvSpPr>
        <p:spPr>
          <a:xfrm>
            <a:off x="387900" y="5003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t>S</a:t>
            </a:r>
            <a:r>
              <a:rPr lang="en-US"/>
              <a:t>election of variables</a:t>
            </a:r>
            <a:endParaRPr lang="en-US"/>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3316</Words>
  <Application>WPS 演示</Application>
  <PresentationFormat/>
  <Paragraphs>120</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Arial</vt:lpstr>
      <vt:lpstr>Roboto Slab</vt:lpstr>
      <vt:lpstr>Roboto</vt:lpstr>
      <vt:lpstr>微软雅黑</vt:lpstr>
      <vt:lpstr>Arial Unicode MS</vt:lpstr>
      <vt:lpstr>Marina</vt:lpstr>
      <vt:lpstr>Data Valorization</vt:lpstr>
      <vt:lpstr>Business goal</vt:lpstr>
      <vt:lpstr>Technical goal</vt:lpstr>
      <vt:lpstr>Data description</vt:lpstr>
      <vt:lpstr>Data quality with univariate analysis</vt:lpstr>
      <vt:lpstr>Data quality with univariate analysis</vt:lpstr>
      <vt:lpstr>Data quality with univariate analysis</vt:lpstr>
      <vt:lpstr>Data quality with univariate analysis</vt:lpstr>
      <vt:lpstr>Dependences between the variables</vt:lpstr>
      <vt:lpstr>Dependences between the variables</vt:lpstr>
      <vt:lpstr>Multivariate statistical analysis of data</vt:lpstr>
      <vt:lpstr>Selection of variables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Valorization</dc:title>
  <dc:creator/>
  <cp:lastModifiedBy>ゆめ</cp:lastModifiedBy>
  <cp:revision>3</cp:revision>
  <dcterms:created xsi:type="dcterms:W3CDTF">2026-01-19T21:12:00Z</dcterms:created>
  <dcterms:modified xsi:type="dcterms:W3CDTF">2026-09-25T14:43:28Z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6D2EDFCE183F46369CD9D65DFE211F13_12</vt:lpwstr>
  </property>
</Properties>
</file>