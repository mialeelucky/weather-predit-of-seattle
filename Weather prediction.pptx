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71" r:id="rId3"/>
    <p:sldId id="272" r:id="rId5"/>
    <p:sldId id="273" r:id="rId6"/>
    <p:sldId id="274" r:id="rId7"/>
    <p:sldId id="275" r:id="rId8"/>
    <p:sldId id="276" r:id="rId9"/>
    <p:sldId id="277" r:id="rId10"/>
    <p:sldId id="278" r:id="rId11"/>
    <p:sldId id="279" r:id="rId12"/>
    <p:sldId id="280" r:id="rId13"/>
    <p:sldId id="281" r:id="rId14"/>
    <p:sldId id="282" r:id="rId15"/>
    <p:sldId id="283" r:id="rId16"/>
  </p:sldIdLst>
  <p:sldSz cx="9144000" cy="5143500"/>
  <p:notesSz cx="6858000" cy="9144000"/>
  <p:embeddedFontLst>
    <p:embeddedFont>
      <p:font typeface="Roboto Slab"/>
      <p:regular r:id="rId20"/>
    </p:embeddedFont>
    <p:embeddedFont>
      <p:font typeface="Roboto" panose="0200000000000000000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g395ddd8ea0b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95ddd8ea0b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3cead7dae87_2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cead7dae87_2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cead7dae87_1_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cead7dae87_1_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1" name="Shape 211"/>
        <p:cNvGrpSpPr/>
        <p:nvPr/>
      </p:nvGrpSpPr>
      <p:grpSpPr>
        <a:xfrm>
          <a:off x="0" y="0"/>
          <a:ext cx="0" cy="0"/>
          <a:chOff x="0" y="0"/>
          <a:chExt cx="0" cy="0"/>
        </a:xfrm>
      </p:grpSpPr>
      <p:sp>
        <p:nvSpPr>
          <p:cNvPr id="212" name="Google Shape;212;g3cead7dae87_1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cead7dae87_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 name="Shape 217"/>
        <p:cNvGrpSpPr/>
        <p:nvPr/>
      </p:nvGrpSpPr>
      <p:grpSpPr>
        <a:xfrm>
          <a:off x="0" y="0"/>
          <a:ext cx="0" cy="0"/>
          <a:chOff x="0" y="0"/>
          <a:chExt cx="0" cy="0"/>
        </a:xfrm>
      </p:grpSpPr>
      <p:sp>
        <p:nvSpPr>
          <p:cNvPr id="218" name="Google Shape;218;g3cead7dae87_1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cead7dae87_1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g3cead7dae87_1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cead7dae87_1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g3cead7dae87_1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cead7dae87_1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g3cead7dae87_1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cead7dae87_1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8" name="Shape 238"/>
        <p:cNvGrpSpPr/>
        <p:nvPr/>
      </p:nvGrpSpPr>
      <p:grpSpPr>
        <a:xfrm>
          <a:off x="0" y="0"/>
          <a:ext cx="0" cy="0"/>
          <a:chOff x="0" y="0"/>
          <a:chExt cx="0" cy="0"/>
        </a:xfrm>
      </p:grpSpPr>
      <p:sp>
        <p:nvSpPr>
          <p:cNvPr id="239" name="Google Shape;239;g3cead7dae87_1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cead7dae87_1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g3cead7dae87_1_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cead7dae87_1_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g3cead7dae87_1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cead7dae87_1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g3cead7dae87_1_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cead7dae87_1_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 name="Shape 260"/>
        <p:cNvGrpSpPr/>
        <p:nvPr/>
      </p:nvGrpSpPr>
      <p:grpSpPr>
        <a:xfrm>
          <a:off x="0" y="0"/>
          <a:ext cx="0" cy="0"/>
          <a:chOff x="0" y="0"/>
          <a:chExt cx="0" cy="0"/>
        </a:xfrm>
      </p:grpSpPr>
      <p:sp>
        <p:nvSpPr>
          <p:cNvPr id="261" name="Google Shape;261;g3cead7dae87_1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cead7dae87_1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4" name="Google Shape;24;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9" name="Google Shape;29;p5"/>
          <p:cNvSpPr txBox="1"/>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0" name="Google Shape;30;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8" name="Google Shape;38;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8" name="Google Shape;48;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9" name="Shape 49"/>
        <p:cNvGrpSpPr/>
        <p:nvPr/>
      </p:nvGrpSpPr>
      <p:grpSpPr>
        <a:xfrm>
          <a:off x="0" y="0"/>
          <a:ext cx="0" cy="0"/>
          <a:chOff x="0" y="0"/>
          <a:chExt cx="0" cy="0"/>
        </a:xfrm>
      </p:grpSpPr>
      <p:sp>
        <p:nvSpPr>
          <p:cNvPr id="50" name="Google Shape;50;p10"/>
          <p:cNvSpPr txBox="1"/>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11"/>
          <p:cNvSpPr txBox="1"/>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56" name="Google Shape;56;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7" name="Shape 57"/>
        <p:cNvGrpSpPr/>
        <p:nvPr/>
      </p:nvGrpSpPr>
      <p:grpSpPr>
        <a:xfrm>
          <a:off x="0" y="0"/>
          <a:ext cx="0" cy="0"/>
          <a:chOff x="0" y="0"/>
          <a:chExt cx="0" cy="0"/>
        </a:xfrm>
      </p:grpSpPr>
      <p:sp>
        <p:nvSpPr>
          <p:cNvPr id="58" name="Google Shape;58;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panose="02000000000000000000"/>
              <a:buChar char="●"/>
              <a:defRPr sz="1800">
                <a:solidFill>
                  <a:schemeClr val="dk1"/>
                </a:solidFill>
                <a:latin typeface="Roboto" panose="02000000000000000000"/>
                <a:ea typeface="Roboto" panose="02000000000000000000"/>
                <a:cs typeface="Roboto" panose="02000000000000000000"/>
                <a:sym typeface="Roboto" panose="02000000000000000000"/>
              </a:defRPr>
            </a:lvl1pPr>
            <a:lvl2pPr marL="914400" lvl="1"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2pPr>
            <a:lvl3pPr marL="1371600" lvl="2"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3pPr>
            <a:lvl4pPr marL="1828800" lvl="3"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4pPr>
            <a:lvl5pPr marL="2286000" lvl="4"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5pPr>
            <a:lvl6pPr marL="2743200" lvl="5"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6pPr>
            <a:lvl7pPr marL="3200400" lvl="6"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7pPr>
            <a:lvl8pPr marL="3657600" lvl="7"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8pPr>
            <a:lvl9pPr marL="4114800" lvl="8"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panose="02000000000000000000"/>
                <a:ea typeface="Roboto" panose="02000000000000000000"/>
                <a:cs typeface="Roboto" panose="02000000000000000000"/>
                <a:sym typeface="Roboto" panose="02000000000000000000"/>
              </a:defRPr>
            </a:lvl1pPr>
            <a:lvl2pPr lvl="1" algn="r">
              <a:buNone/>
              <a:defRPr sz="1000">
                <a:solidFill>
                  <a:schemeClr val="dk1"/>
                </a:solidFill>
                <a:latin typeface="Roboto" panose="02000000000000000000"/>
                <a:ea typeface="Roboto" panose="02000000000000000000"/>
                <a:cs typeface="Roboto" panose="02000000000000000000"/>
                <a:sym typeface="Roboto" panose="02000000000000000000"/>
              </a:defRPr>
            </a:lvl2pPr>
            <a:lvl3pPr lvl="2" algn="r">
              <a:buNone/>
              <a:defRPr sz="1000">
                <a:solidFill>
                  <a:schemeClr val="dk1"/>
                </a:solidFill>
                <a:latin typeface="Roboto" panose="02000000000000000000"/>
                <a:ea typeface="Roboto" panose="02000000000000000000"/>
                <a:cs typeface="Roboto" panose="02000000000000000000"/>
                <a:sym typeface="Roboto" panose="02000000000000000000"/>
              </a:defRPr>
            </a:lvl3pPr>
            <a:lvl4pPr lvl="3" algn="r">
              <a:buNone/>
              <a:defRPr sz="1000">
                <a:solidFill>
                  <a:schemeClr val="dk1"/>
                </a:solidFill>
                <a:latin typeface="Roboto" panose="02000000000000000000"/>
                <a:ea typeface="Roboto" panose="02000000000000000000"/>
                <a:cs typeface="Roboto" panose="02000000000000000000"/>
                <a:sym typeface="Roboto" panose="02000000000000000000"/>
              </a:defRPr>
            </a:lvl4pPr>
            <a:lvl5pPr lvl="4" algn="r">
              <a:buNone/>
              <a:defRPr sz="1000">
                <a:solidFill>
                  <a:schemeClr val="dk1"/>
                </a:solidFill>
                <a:latin typeface="Roboto" panose="02000000000000000000"/>
                <a:ea typeface="Roboto" panose="02000000000000000000"/>
                <a:cs typeface="Roboto" panose="02000000000000000000"/>
                <a:sym typeface="Roboto" panose="02000000000000000000"/>
              </a:defRPr>
            </a:lvl5pPr>
            <a:lvl6pPr lvl="5" algn="r">
              <a:buNone/>
              <a:defRPr sz="1000">
                <a:solidFill>
                  <a:schemeClr val="dk1"/>
                </a:solidFill>
                <a:latin typeface="Roboto" panose="02000000000000000000"/>
                <a:ea typeface="Roboto" panose="02000000000000000000"/>
                <a:cs typeface="Roboto" panose="02000000000000000000"/>
                <a:sym typeface="Roboto" panose="02000000000000000000"/>
              </a:defRPr>
            </a:lvl6pPr>
            <a:lvl7pPr lvl="6" algn="r">
              <a:buNone/>
              <a:defRPr sz="1000">
                <a:solidFill>
                  <a:schemeClr val="dk1"/>
                </a:solidFill>
                <a:latin typeface="Roboto" panose="02000000000000000000"/>
                <a:ea typeface="Roboto" panose="02000000000000000000"/>
                <a:cs typeface="Roboto" panose="02000000000000000000"/>
                <a:sym typeface="Roboto" panose="02000000000000000000"/>
              </a:defRPr>
            </a:lvl7pPr>
            <a:lvl8pPr lvl="7" algn="r">
              <a:buNone/>
              <a:defRPr sz="1000">
                <a:solidFill>
                  <a:schemeClr val="dk1"/>
                </a:solidFill>
                <a:latin typeface="Roboto" panose="02000000000000000000"/>
                <a:ea typeface="Roboto" panose="02000000000000000000"/>
                <a:cs typeface="Roboto" panose="02000000000000000000"/>
                <a:sym typeface="Roboto" panose="02000000000000000000"/>
              </a:defRPr>
            </a:lvl8pPr>
            <a:lvl9pPr lvl="8" algn="r">
              <a:buNone/>
              <a:defRPr sz="1000">
                <a:solidFill>
                  <a:schemeClr val="dk1"/>
                </a:solidFill>
                <a:latin typeface="Roboto" panose="02000000000000000000"/>
                <a:ea typeface="Roboto" panose="02000000000000000000"/>
                <a:cs typeface="Roboto" panose="02000000000000000000"/>
                <a:sym typeface="Roboto" panose="02000000000000000000"/>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28"/>
          <p:cNvSpPr txBox="1"/>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a:t>Data Valorization</a:t>
            </a:r>
            <a:endParaRPr lang="en-US"/>
          </a:p>
        </p:txBody>
      </p:sp>
      <p:sp>
        <p:nvSpPr>
          <p:cNvPr id="199" name="Google Shape;199;p28"/>
          <p:cNvSpPr txBox="1"/>
          <p:nvPr>
            <p:ph type="subTitle" idx="1"/>
          </p:nvPr>
        </p:nvSpPr>
        <p:spPr>
          <a:xfrm>
            <a:off x="1680302" y="3049450"/>
            <a:ext cx="5783400" cy="9090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US"/>
              <a:t>Alberto García, Meng Li, Yassmin Zouarhi</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387900" y="270200"/>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Reasons of choosing Softmax Method </a:t>
            </a:r>
            <a:endParaRPr lang="en-US"/>
          </a:p>
        </p:txBody>
      </p:sp>
      <p:sp>
        <p:nvSpPr>
          <p:cNvPr id="205" name="Google Shape;205;p29"/>
          <p:cNvSpPr txBox="1"/>
          <p:nvPr>
            <p:ph type="body" idx="1"/>
          </p:nvPr>
        </p:nvSpPr>
        <p:spPr>
          <a:xfrm>
            <a:off x="291000" y="1178508"/>
            <a:ext cx="8853000" cy="390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sz="1600">
                <a:latin typeface="Arial" panose="020B0604020202020204"/>
                <a:ea typeface="Arial" panose="020B0604020202020204"/>
                <a:cs typeface="Arial" panose="020B0604020202020204"/>
                <a:sym typeface="Arial" panose="020B0604020202020204"/>
              </a:rPr>
              <a:t>Softmax is effective for weather classification because:</a:t>
            </a:r>
            <a:endParaRPr sz="1600">
              <a:latin typeface="Arial" panose="020B0604020202020204"/>
              <a:ea typeface="Arial" panose="020B0604020202020204"/>
              <a:cs typeface="Arial" panose="020B0604020202020204"/>
              <a:sym typeface="Arial" panose="020B0604020202020204"/>
            </a:endParaRPr>
          </a:p>
          <a:p>
            <a:pPr marL="457200" lvl="0" indent="-330200" algn="l" rtl="0">
              <a:spcBef>
                <a:spcPts val="1200"/>
              </a:spcBef>
              <a:spcAft>
                <a:spcPts val="0"/>
              </a:spcAft>
              <a:buClr>
                <a:schemeClr val="dk1"/>
              </a:buClr>
              <a:buSzPts val="1600"/>
              <a:buFont typeface="Arial" panose="020B0604020202020204"/>
              <a:buAutoNum type="arabicPeriod"/>
            </a:pPr>
            <a:r>
              <a:rPr lang="en-US" sz="1600">
                <a:latin typeface="Arial" panose="020B0604020202020204"/>
                <a:ea typeface="Arial" panose="020B0604020202020204"/>
                <a:cs typeface="Arial" panose="020B0604020202020204"/>
                <a:sym typeface="Arial" panose="020B0604020202020204"/>
              </a:rPr>
              <a:t>The problem is multiclass.</a:t>
            </a:r>
            <a:br>
              <a:rPr lang="en-US" sz="1600">
                <a:latin typeface="Arial" panose="020B0604020202020204"/>
                <a:ea typeface="Arial" panose="020B0604020202020204"/>
                <a:cs typeface="Arial" panose="020B0604020202020204"/>
                <a:sym typeface="Arial" panose="020B0604020202020204"/>
              </a:rPr>
            </a:br>
            <a:r>
              <a:rPr lang="en-US" sz="1600">
                <a:latin typeface="Arial" panose="020B0604020202020204"/>
                <a:ea typeface="Arial" panose="020B0604020202020204"/>
                <a:cs typeface="Arial" panose="020B0604020202020204"/>
                <a:sym typeface="Arial" panose="020B0604020202020204"/>
              </a:rPr>
              <a:t> Weather categories (sun, rain, fog, drizzle, etc.) are multiple classes, and softmax is designed to model the probability of each class.</a:t>
            </a:r>
            <a:endParaRPr sz="1600">
              <a:latin typeface="Arial" panose="020B0604020202020204"/>
              <a:ea typeface="Arial" panose="020B0604020202020204"/>
              <a:cs typeface="Arial" panose="020B0604020202020204"/>
              <a:sym typeface="Arial" panose="020B0604020202020204"/>
            </a:endParaRPr>
          </a:p>
          <a:p>
            <a:pPr marL="457200" lvl="0" indent="-330200" algn="l" rtl="0">
              <a:spcBef>
                <a:spcPts val="0"/>
              </a:spcBef>
              <a:spcAft>
                <a:spcPts val="0"/>
              </a:spcAft>
              <a:buClr>
                <a:schemeClr val="dk1"/>
              </a:buClr>
              <a:buSzPts val="1600"/>
              <a:buFont typeface="Arial" panose="020B0604020202020204"/>
              <a:buAutoNum type="arabicPeriod"/>
            </a:pPr>
            <a:r>
              <a:rPr lang="en-US" sz="1600">
                <a:latin typeface="Arial" panose="020B0604020202020204"/>
                <a:ea typeface="Arial" panose="020B0604020202020204"/>
                <a:cs typeface="Arial" panose="020B0604020202020204"/>
                <a:sym typeface="Arial" panose="020B0604020202020204"/>
              </a:rPr>
              <a:t>It outputs probabilities.</a:t>
            </a:r>
            <a:br>
              <a:rPr lang="en-US" sz="1600">
                <a:latin typeface="Arial" panose="020B0604020202020204"/>
                <a:ea typeface="Arial" panose="020B0604020202020204"/>
                <a:cs typeface="Arial" panose="020B0604020202020204"/>
                <a:sym typeface="Arial" panose="020B0604020202020204"/>
              </a:rPr>
            </a:br>
            <a:r>
              <a:rPr lang="en-US" sz="1600">
                <a:latin typeface="Arial" panose="020B0604020202020204"/>
                <a:ea typeface="Arial" panose="020B0604020202020204"/>
                <a:cs typeface="Arial" panose="020B0604020202020204"/>
                <a:sym typeface="Arial" panose="020B0604020202020204"/>
              </a:rPr>
              <a:t> Softmax converts linear scores into probabilities between 0 and 1, and all probabilities sum to 1.</a:t>
            </a:r>
            <a:endParaRPr sz="1600">
              <a:latin typeface="Arial" panose="020B0604020202020204"/>
              <a:ea typeface="Arial" panose="020B0604020202020204"/>
              <a:cs typeface="Arial" panose="020B0604020202020204"/>
              <a:sym typeface="Arial" panose="020B0604020202020204"/>
            </a:endParaRPr>
          </a:p>
          <a:p>
            <a:pPr marL="457200" lvl="0" indent="-330200" algn="l" rtl="0">
              <a:spcBef>
                <a:spcPts val="0"/>
              </a:spcBef>
              <a:spcAft>
                <a:spcPts val="0"/>
              </a:spcAft>
              <a:buClr>
                <a:schemeClr val="dk1"/>
              </a:buClr>
              <a:buSzPts val="1600"/>
              <a:buFont typeface="Arial" panose="020B0604020202020204"/>
              <a:buAutoNum type="arabicPeriod"/>
            </a:pPr>
            <a:r>
              <a:rPr lang="en-US" sz="1600">
                <a:latin typeface="Arial" panose="020B0604020202020204"/>
                <a:ea typeface="Arial" panose="020B0604020202020204"/>
                <a:cs typeface="Arial" panose="020B0604020202020204"/>
                <a:sym typeface="Arial" panose="020B0604020202020204"/>
              </a:rPr>
              <a:t>Classes compete with each other.</a:t>
            </a:r>
            <a:br>
              <a:rPr lang="en-US" sz="1600">
                <a:latin typeface="Arial" panose="020B0604020202020204"/>
                <a:ea typeface="Arial" panose="020B0604020202020204"/>
                <a:cs typeface="Arial" panose="020B0604020202020204"/>
                <a:sym typeface="Arial" panose="020B0604020202020204"/>
              </a:rPr>
            </a:br>
            <a:r>
              <a:rPr lang="en-US" sz="1600">
                <a:latin typeface="Arial" panose="020B0604020202020204"/>
                <a:ea typeface="Arial" panose="020B0604020202020204"/>
                <a:cs typeface="Arial" panose="020B0604020202020204"/>
                <a:sym typeface="Arial" panose="020B0604020202020204"/>
              </a:rPr>
              <a:t> If the probability of one weather type increases, the probabilities of the others decrease, which matches real-world situations where only one weather category occurs at a time.</a:t>
            </a:r>
            <a:endParaRPr sz="1900">
              <a:latin typeface="Arial" panose="020B0604020202020204"/>
              <a:ea typeface="Arial" panose="020B0604020202020204"/>
              <a:cs typeface="Arial" panose="020B0604020202020204"/>
              <a:sym typeface="Arial" panose="020B0604020202020204"/>
            </a:endParaRPr>
          </a:p>
          <a:p>
            <a:pPr marL="457200" lvl="0" indent="-330200" algn="l" rtl="0">
              <a:spcBef>
                <a:spcPts val="0"/>
              </a:spcBef>
              <a:spcAft>
                <a:spcPts val="0"/>
              </a:spcAft>
              <a:buClr>
                <a:schemeClr val="dk1"/>
              </a:buClr>
              <a:buSzPts val="1600"/>
              <a:buFont typeface="Arial" panose="020B0604020202020204"/>
              <a:buAutoNum type="arabicPeriod"/>
            </a:pPr>
            <a:r>
              <a:rPr lang="en-US" sz="1600">
                <a:latin typeface="Arial" panose="020B0604020202020204"/>
                <a:ea typeface="Arial" panose="020B0604020202020204"/>
                <a:cs typeface="Arial" panose="020B0604020202020204"/>
                <a:sym typeface="Arial" panose="020B0604020202020204"/>
              </a:rPr>
              <a:t>It is a natural extension of logistic regression.</a:t>
            </a:r>
            <a:br>
              <a:rPr lang="en-US" sz="1600">
                <a:latin typeface="Arial" panose="020B0604020202020204"/>
                <a:ea typeface="Arial" panose="020B0604020202020204"/>
                <a:cs typeface="Arial" panose="020B0604020202020204"/>
                <a:sym typeface="Arial" panose="020B0604020202020204"/>
              </a:rPr>
            </a:br>
            <a:r>
              <a:rPr lang="en-US" sz="1600">
                <a:latin typeface="Arial" panose="020B0604020202020204"/>
                <a:ea typeface="Arial" panose="020B0604020202020204"/>
                <a:cs typeface="Arial" panose="020B0604020202020204"/>
                <a:sym typeface="Arial" panose="020B0604020202020204"/>
              </a:rPr>
              <a:t> Logistic regression works for binary classification, and softmax generalizes it to multiple classes.</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30"/>
          <p:cNvSpPr txBox="1"/>
          <p:nvPr>
            <p:ph type="body" idx="1"/>
          </p:nvPr>
        </p:nvSpPr>
        <p:spPr>
          <a:xfrm>
            <a:off x="387900" y="990649"/>
            <a:ext cx="8368200" cy="3078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endParaRPr>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a:latin typeface="Arial" panose="020B0604020202020204"/>
                <a:ea typeface="Arial" panose="020B0604020202020204"/>
                <a:cs typeface="Arial" panose="020B0604020202020204"/>
                <a:sym typeface="Arial" panose="020B0604020202020204"/>
              </a:rPr>
              <a:t>Also, we don’t choose the Naive Bayes method because the conditional probability of features are not independent, so it would not be a good choice in this study.</a:t>
            </a:r>
            <a:endParaRPr sz="2200">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endParaRPr>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a:latin typeface="Arial" panose="020B0604020202020204"/>
                <a:ea typeface="Arial" panose="020B0604020202020204"/>
                <a:cs typeface="Arial" panose="020B0604020202020204"/>
                <a:sym typeface="Arial" panose="020B0604020202020204"/>
              </a:rPr>
              <a:t>So, softmax provides a mathematically consistent and interpretable way to predict weather categories from features like temperature, precipitation, wind, and month.</a:t>
            </a:r>
            <a:endParaRPr sz="2500"/>
          </a:p>
          <a:p>
            <a:pPr marL="0" lvl="0" indent="0" algn="l" rtl="0">
              <a:spcBef>
                <a:spcPts val="1200"/>
              </a:spcBef>
              <a:spcAft>
                <a:spcPts val="0"/>
              </a:spcAft>
              <a:buNone/>
            </a:pPr>
            <a:endParaRPr>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1200"/>
              </a:spcAft>
              <a:buNone/>
            </a:pP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Data Prep</a:t>
            </a:r>
            <a:r>
              <a:rPr lang="en-US"/>
              <a:t>aration</a:t>
            </a:r>
            <a:endParaRPr lang="en-US"/>
          </a:p>
        </p:txBody>
      </p:sp>
      <p:sp>
        <p:nvSpPr>
          <p:cNvPr id="216" name="Google Shape;216;p31"/>
          <p:cNvSpPr txBox="1"/>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t>As mentioned in the first part, </a:t>
            </a:r>
            <a:r>
              <a:rPr lang="en-US"/>
              <a:t>the final selected variables for our study are maximum temperature, wind speed, precipitation, and date.</a:t>
            </a:r>
            <a:endParaRPr lang="en-US"/>
          </a:p>
          <a:p>
            <a:pPr marL="0" lvl="0" indent="0" algn="l" rtl="0">
              <a:spcBef>
                <a:spcPts val="1200"/>
              </a:spcBef>
              <a:spcAft>
                <a:spcPts val="0"/>
              </a:spcAft>
              <a:buNone/>
            </a:pPr>
            <a:r>
              <a:rPr lang="en-US"/>
              <a:t>Specially, for the data of date, we converted</a:t>
            </a:r>
            <a:r>
              <a:rPr lang="en-US"/>
              <a:t> into the data of month to better use the information included. </a:t>
            </a:r>
            <a:endParaRPr lang="en-US"/>
          </a:p>
          <a:p>
            <a:pPr marL="0" lvl="0" indent="0" algn="l" rtl="0">
              <a:spcBef>
                <a:spcPts val="1200"/>
              </a:spcBef>
              <a:spcAft>
                <a:spcPts val="1200"/>
              </a:spcAft>
              <a:buNone/>
            </a:pPr>
            <a:r>
              <a:rPr lang="en-US"/>
              <a:t>Besides, we have checked that we don’t have any missing values. As for the outliers, since the information in this case of outliers can indicate some extreme situations in weather, we decided to use all of the data.</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387900" y="24584"/>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Theoretical Explanation</a:t>
            </a:r>
            <a:endParaRPr lang="en-US"/>
          </a:p>
        </p:txBody>
      </p:sp>
      <p:pic>
        <p:nvPicPr>
          <p:cNvPr id="222" name="Google Shape;222;p32"/>
          <p:cNvPicPr preferRelativeResize="0"/>
          <p:nvPr/>
        </p:nvPicPr>
        <p:blipFill>
          <a:blip r:embed="rId1"/>
          <a:stretch>
            <a:fillRect/>
          </a:stretch>
        </p:blipFill>
        <p:spPr>
          <a:xfrm>
            <a:off x="105275" y="667325"/>
            <a:ext cx="8928901" cy="4432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pic>
        <p:nvPicPr>
          <p:cNvPr id="227" name="Google Shape;227;p33"/>
          <p:cNvPicPr preferRelativeResize="0"/>
          <p:nvPr/>
        </p:nvPicPr>
        <p:blipFill>
          <a:blip r:embed="rId1"/>
          <a:stretch>
            <a:fillRect/>
          </a:stretch>
        </p:blipFill>
        <p:spPr>
          <a:xfrm>
            <a:off x="148625" y="147696"/>
            <a:ext cx="8842176" cy="4859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pic>
        <p:nvPicPr>
          <p:cNvPr id="232" name="Google Shape;232;p34"/>
          <p:cNvPicPr preferRelativeResize="0"/>
          <p:nvPr/>
        </p:nvPicPr>
        <p:blipFill>
          <a:blip r:embed="rId1"/>
          <a:stretch>
            <a:fillRect/>
          </a:stretch>
        </p:blipFill>
        <p:spPr>
          <a:xfrm>
            <a:off x="119719" y="528325"/>
            <a:ext cx="8914449" cy="414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pic>
        <p:nvPicPr>
          <p:cNvPr id="237" name="Google Shape;237;p35"/>
          <p:cNvPicPr preferRelativeResize="0"/>
          <p:nvPr/>
        </p:nvPicPr>
        <p:blipFill>
          <a:blip r:embed="rId1"/>
          <a:stretch>
            <a:fillRect/>
          </a:stretch>
        </p:blipFill>
        <p:spPr>
          <a:xfrm>
            <a:off x="152400" y="224913"/>
            <a:ext cx="8839199" cy="4704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1" name="Shape 241"/>
        <p:cNvGrpSpPr/>
        <p:nvPr/>
      </p:nvGrpSpPr>
      <p:grpSpPr>
        <a:xfrm>
          <a:off x="0" y="0"/>
          <a:ext cx="0" cy="0"/>
          <a:chOff x="0" y="0"/>
          <a:chExt cx="0" cy="0"/>
        </a:xfrm>
      </p:grpSpPr>
      <p:pic>
        <p:nvPicPr>
          <p:cNvPr id="242" name="Google Shape;242;p36"/>
          <p:cNvPicPr preferRelativeResize="0"/>
          <p:nvPr/>
        </p:nvPicPr>
        <p:blipFill>
          <a:blip r:embed="rId1"/>
          <a:stretch>
            <a:fillRect/>
          </a:stretch>
        </p:blipFill>
        <p:spPr>
          <a:xfrm>
            <a:off x="152400" y="455809"/>
            <a:ext cx="8839199" cy="4219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p>
        </p:txBody>
      </p:sp>
      <p:sp>
        <p:nvSpPr>
          <p:cNvPr id="248" name="Google Shape;248;p37"/>
          <p:cNvSpPr txBox="1"/>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249" name="Google Shape;249;p37"/>
          <p:cNvPicPr preferRelativeResize="0"/>
          <p:nvPr/>
        </p:nvPicPr>
        <p:blipFill>
          <a:blip r:embed="rId1"/>
          <a:stretch>
            <a:fillRect/>
          </a:stretch>
        </p:blipFill>
        <p:spPr>
          <a:xfrm>
            <a:off x="197250" y="65975"/>
            <a:ext cx="8749501" cy="5013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53" name="Shape 253"/>
        <p:cNvGrpSpPr/>
        <p:nvPr/>
      </p:nvGrpSpPr>
      <p:grpSpPr>
        <a:xfrm>
          <a:off x="0" y="0"/>
          <a:ext cx="0" cy="0"/>
          <a:chOff x="0" y="0"/>
          <a:chExt cx="0" cy="0"/>
        </a:xfrm>
      </p:grpSpPr>
      <p:pic>
        <p:nvPicPr>
          <p:cNvPr id="254" name="Google Shape;254;p38"/>
          <p:cNvPicPr preferRelativeResize="0"/>
          <p:nvPr/>
        </p:nvPicPr>
        <p:blipFill>
          <a:blip r:embed="rId1"/>
          <a:stretch>
            <a:fillRect/>
          </a:stretch>
        </p:blipFill>
        <p:spPr>
          <a:xfrm>
            <a:off x="152400" y="166856"/>
            <a:ext cx="8839201" cy="4797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pic>
        <p:nvPicPr>
          <p:cNvPr id="259" name="Google Shape;259;p39"/>
          <p:cNvPicPr preferRelativeResize="0"/>
          <p:nvPr/>
        </p:nvPicPr>
        <p:blipFill>
          <a:blip r:embed="rId1"/>
          <a:stretch>
            <a:fillRect/>
          </a:stretch>
        </p:blipFill>
        <p:spPr>
          <a:xfrm>
            <a:off x="152400" y="846167"/>
            <a:ext cx="8839200" cy="3286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63" name="Shape 263"/>
        <p:cNvGrpSpPr/>
        <p:nvPr/>
      </p:nvGrpSpPr>
      <p:grpSpPr>
        <a:xfrm>
          <a:off x="0" y="0"/>
          <a:ext cx="0" cy="0"/>
          <a:chOff x="0" y="0"/>
          <a:chExt cx="0" cy="0"/>
        </a:xfrm>
      </p:grpSpPr>
      <p:sp>
        <p:nvSpPr>
          <p:cNvPr id="264" name="Google Shape;264;p40"/>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M</a:t>
            </a:r>
            <a:r>
              <a:rPr lang="en-US"/>
              <a:t>easure of Performance</a:t>
            </a:r>
            <a:endParaRPr lang="en-US"/>
          </a:p>
        </p:txBody>
      </p:sp>
      <p:sp>
        <p:nvSpPr>
          <p:cNvPr id="265" name="Google Shape;265;p40"/>
          <p:cNvSpPr txBox="1"/>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a:latin typeface="Arial" panose="020B0604020202020204"/>
                <a:ea typeface="Arial" panose="020B0604020202020204"/>
                <a:cs typeface="Arial" panose="020B0604020202020204"/>
                <a:sym typeface="Arial" panose="020B0604020202020204"/>
              </a:rPr>
              <a:t>To evaluate the performance of the Softmax classification model, we use a </a:t>
            </a:r>
            <a:r>
              <a:rPr lang="en-US" b="1">
                <a:latin typeface="Arial" panose="020B0604020202020204"/>
                <a:ea typeface="Arial" panose="020B0604020202020204"/>
                <a:cs typeface="Arial" panose="020B0604020202020204"/>
                <a:sym typeface="Arial" panose="020B0604020202020204"/>
              </a:rPr>
              <a:t>confusion matrix</a:t>
            </a:r>
            <a:r>
              <a:rPr lang="en-US">
                <a:latin typeface="Arial" panose="020B0604020202020204"/>
                <a:ea typeface="Arial" panose="020B0604020202020204"/>
                <a:cs typeface="Arial" panose="020B0604020202020204"/>
                <a:sym typeface="Arial" panose="020B0604020202020204"/>
              </a:rPr>
              <a:t> and </a:t>
            </a:r>
            <a:r>
              <a:rPr lang="en-US" b="1">
                <a:latin typeface="Arial" panose="020B0604020202020204"/>
                <a:ea typeface="Arial" panose="020B0604020202020204"/>
                <a:cs typeface="Arial" panose="020B0604020202020204"/>
                <a:sym typeface="Arial" panose="020B0604020202020204"/>
              </a:rPr>
              <a:t>accuracy</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a:latin typeface="Arial" panose="020B0604020202020204"/>
                <a:ea typeface="Arial" panose="020B0604020202020204"/>
                <a:cs typeface="Arial" panose="020B0604020202020204"/>
                <a:sym typeface="Arial" panose="020B0604020202020204"/>
              </a:rPr>
              <a:t>The </a:t>
            </a:r>
            <a:r>
              <a:rPr lang="en-US" b="1">
                <a:latin typeface="Arial" panose="020B0604020202020204"/>
                <a:ea typeface="Arial" panose="020B0604020202020204"/>
                <a:cs typeface="Arial" panose="020B0604020202020204"/>
                <a:sym typeface="Arial" panose="020B0604020202020204"/>
              </a:rPr>
              <a:t>confusion matrix</a:t>
            </a:r>
            <a:r>
              <a:rPr lang="en-US">
                <a:latin typeface="Arial" panose="020B0604020202020204"/>
                <a:ea typeface="Arial" panose="020B0604020202020204"/>
                <a:cs typeface="Arial" panose="020B0604020202020204"/>
                <a:sym typeface="Arial" panose="020B0604020202020204"/>
              </a:rPr>
              <a:t> compares the predicted classes with the true classes and shows how many observations are correctly or incorrectly classified for each category.</a:t>
            </a:r>
            <a:endParaRPr>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a:latin typeface="Arial" panose="020B0604020202020204"/>
                <a:ea typeface="Arial" panose="020B0604020202020204"/>
                <a:cs typeface="Arial" panose="020B0604020202020204"/>
                <a:sym typeface="Arial" panose="020B0604020202020204"/>
              </a:rPr>
              <a:t>The </a:t>
            </a:r>
            <a:r>
              <a:rPr lang="en-US" b="1">
                <a:latin typeface="Arial" panose="020B0604020202020204"/>
                <a:ea typeface="Arial" panose="020B0604020202020204"/>
                <a:cs typeface="Arial" panose="020B0604020202020204"/>
                <a:sym typeface="Arial" panose="020B0604020202020204"/>
              </a:rPr>
              <a:t>accuracy</a:t>
            </a:r>
            <a:r>
              <a:rPr lang="en-US">
                <a:latin typeface="Arial" panose="020B0604020202020204"/>
                <a:ea typeface="Arial" panose="020B0604020202020204"/>
                <a:cs typeface="Arial" panose="020B0604020202020204"/>
                <a:sym typeface="Arial" panose="020B0604020202020204"/>
              </a:rPr>
              <a:t> measures the proportion of correctly predicted observations among all observations. A higher accuracy indicates better classification performance of the Softmax model.</a:t>
            </a:r>
            <a:endParaRPr>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1200"/>
              </a:spcAft>
              <a:buNone/>
            </a:pPr>
            <a:endParaRPr sz="250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2094</Words>
  <Application>WPS 演示</Application>
  <PresentationFormat/>
  <Paragraphs>33</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Arial</vt:lpstr>
      <vt:lpstr>Roboto Slab</vt:lpstr>
      <vt:lpstr>Roboto</vt:lpstr>
      <vt:lpstr>微软雅黑</vt:lpstr>
      <vt:lpstr>Arial Unicode MS</vt:lpstr>
      <vt:lpstr>Marina</vt:lpstr>
      <vt:lpstr>Data Valorization</vt:lpstr>
      <vt:lpstr>Reasons of choosing Softmax Method </vt:lpstr>
      <vt:lpstr>PowerPoint 演示文稿</vt:lpstr>
      <vt:lpstr>Data Preparation</vt:lpstr>
      <vt:lpstr>Theoretical Explanation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Measure of Performance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Valorization</dc:title>
  <dc:creator/>
  <cp:lastModifiedBy>ゆめ</cp:lastModifiedBy>
  <cp:revision>2</cp:revision>
  <dcterms:created xsi:type="dcterms:W3CDTF">2026-03-10T21:45:00Z</dcterms:created>
  <dcterms:modified xsi:type="dcterms:W3CDTF">2026-09-25T14:43:30Z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B29FB5B262024020B999810D6F8D095E_12</vt:lpwstr>
  </property>
</Properties>
</file>